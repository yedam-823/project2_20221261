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73" r:id="rId3"/>
    <p:sldId id="256" r:id="rId4"/>
    <p:sldId id="258" r:id="rId5"/>
    <p:sldId id="271" r:id="rId6"/>
    <p:sldId id="272" r:id="rId7"/>
    <p:sldId id="267" r:id="rId8"/>
    <p:sldId id="259" r:id="rId9"/>
    <p:sldId id="268" r:id="rId10"/>
    <p:sldId id="262" r:id="rId11"/>
    <p:sldId id="261" r:id="rId12"/>
    <p:sldId id="264" r:id="rId13"/>
    <p:sldId id="269" r:id="rId14"/>
    <p:sldId id="270" r:id="rId15"/>
    <p:sldId id="265" r:id="rId16"/>
    <p:sldId id="266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edam Lee" initials="YL" lastIdx="2" clrIdx="0">
    <p:extLst>
      <p:ext uri="{19B8F6BF-5375-455C-9EA6-DF929625EA0E}">
        <p15:presenceInfo xmlns:p15="http://schemas.microsoft.com/office/powerpoint/2012/main" userId="b5896997e03ae3a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9" autoAdjust="0"/>
    <p:restoredTop sz="92346" autoAdjust="0"/>
  </p:normalViewPr>
  <p:slideViewPr>
    <p:cSldViewPr snapToGrid="0">
      <p:cViewPr varScale="1">
        <p:scale>
          <a:sx n="76" d="100"/>
          <a:sy n="76" d="100"/>
        </p:scale>
        <p:origin x="64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718CF-57F6-46AE-8F4B-12B6A739CE0D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C76E2-BB8C-45C5-9B63-A6E577FB0F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585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C76E2-BB8C-45C5-9B63-A6E577FB0FF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684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C76E2-BB8C-45C5-9B63-A6E577FB0FF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677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C76E2-BB8C-45C5-9B63-A6E577FB0FF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139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C76E2-BB8C-45C5-9B63-A6E577FB0FF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24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C76E2-BB8C-45C5-9B63-A6E577FB0FF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992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C76E2-BB8C-45C5-9B63-A6E577FB0FF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921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1A4898-448D-F7B8-775B-A73CCF756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883B98-5617-7BB3-9F1B-9F0455B85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1C1A4C-9807-274D-07D8-078524E7C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B061-5381-43A5-96CD-8B98134AA446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060841-EB2B-35B4-1B69-C07585137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D093C9-09D1-AD18-ECC5-A7B5042C7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364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DF8D3D-32EF-D4E7-BF90-92D0774CD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C9A9D3-2D16-A1BB-AAB9-228075297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C07933-B386-6797-949B-BDC5E3D72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B061-5381-43A5-96CD-8B98134AA446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3B2EA7-75A4-8DB0-C4A9-FF16659AB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B87E00-4049-EB86-71E3-DC92AB229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71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FCA8E5-C748-2314-1779-7E4B1DFA7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85137D-9D88-579F-BD4F-3BC0EFB3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9E18C4-F9B9-9D30-C20A-72DF109C6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B061-5381-43A5-96CD-8B98134AA446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33D984-19A2-218C-0330-CA07758CC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58C62C-C857-79F8-805E-FDC449BCD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16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4C0A9B-293F-73BE-1C90-B3080B203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519ECF-FF04-1B9F-805E-60BE93B84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5F6837-8B7F-E4F3-7D78-45900A7EC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E38E4B-7032-1739-3B61-E277C5E54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B061-5381-43A5-96CD-8B98134AA446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16401E-52F2-E4DC-4A62-8AF047290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389399-E921-DE2D-AA3E-DF8BAFEF0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9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52026-341B-6224-D4C4-5BE4834C0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7DE48C-4B3D-3725-68C6-952437CBC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F18F82-EB6D-F18D-5B77-BA0D1542E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65B4F3-AD1C-7BA2-9690-931B60C431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0309749-E547-8F73-825A-AC00DBDA4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70DDD6C-D195-1B5F-6A24-A4357CF73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B061-5381-43A5-96CD-8B98134AA446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8DC2EC-9FB6-7BB9-7251-47AE9D526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954A622-E334-D223-FB60-69A377311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31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2E6860-9FD4-319F-D502-F47FD8D0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D5A5AD-3C60-F689-64FF-B52132EEE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B061-5381-43A5-96CD-8B98134AA446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6488DD-8A1F-DE2B-15B4-A7DD2778A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C6D375-9EF5-31B7-2717-67153AEF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603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931E719-C61C-5A33-D894-F6127F08E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B061-5381-43A5-96CD-8B98134AA446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FE3D037-444E-C542-8D09-4693E4100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DD6BEC-A453-EC9D-B7FF-7A5B1F558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24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60FAC-72F5-D47C-7880-8875F55AC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CDF5C7-4C19-1D01-FBAA-DABE450DE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A7E0EE-DE39-51FA-4E4E-C90801333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F19C04-902A-A65E-920E-618AFD7A1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B061-5381-43A5-96CD-8B98134AA446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BC110D-AB7A-BE95-358B-48FE630CE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54C283-9A83-DB79-5202-B12BB5C2B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62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6A28B1-0020-65DE-8305-2954B3078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8A23EB-96F4-23C3-A315-182D8ED916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105049-DC59-61BC-9AEC-BA8E7421B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CC16DC-BB97-4175-C76A-360045EC8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B061-5381-43A5-96CD-8B98134AA446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A6B9FE-20F5-3908-E372-D964404A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69218C-82D8-36E0-5C6C-2B4014275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062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601E67-35AB-53BE-9BB5-AAA0681BC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3C492BC-D4DC-AA01-DA21-FD038711C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2622D1-857C-50EA-8744-E467204F8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B061-5381-43A5-96CD-8B98134AA446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8416-4235-04DD-5C69-21B55E233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94FD55-23FA-38C1-C371-61FDF491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140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F7A11DF-3698-9F23-375B-EECCE05A1E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CE0AAFD-3C79-2151-808C-6B3D3855D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89915D-2D61-17C6-F326-425D788B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3B061-5381-43A5-96CD-8B98134AA446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D9EC7B-E843-7F88-83C3-5931D5760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BFFDF8-11F6-6210-1F92-C99109EB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596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3713342-989D-944B-9312-529FD71C7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DD4B2E-AAD2-3945-6E57-18638AD0D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369815-1C16-4DD7-E1BF-5ECF6FE130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3B061-5381-43A5-96CD-8B98134AA446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019020-DE6B-9891-6ADC-B02402FC4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9B6D7E-9651-14AA-F892-7DD2AE55B3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9F2F0-18C8-4831-8911-5F3F4B460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01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OxWsq2cu6OU?feature=oembed" TargetMode="Externa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C55AF-D44B-4E55-E04F-A8FC6BD01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2170BA7A-9CAF-6743-F738-66BD72D61F85}"/>
              </a:ext>
            </a:extLst>
          </p:cNvPr>
          <p:cNvSpPr/>
          <p:nvPr/>
        </p:nvSpPr>
        <p:spPr>
          <a:xfrm>
            <a:off x="135080" y="135082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28CFA2B7-0E34-A514-3C92-680CCBD3457A}"/>
              </a:ext>
            </a:extLst>
          </p:cNvPr>
          <p:cNvSpPr txBox="1">
            <a:spLocks/>
          </p:cNvSpPr>
          <p:nvPr/>
        </p:nvSpPr>
        <p:spPr>
          <a:xfrm>
            <a:off x="718508" y="846464"/>
            <a:ext cx="7561334" cy="1818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44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Microsoft Sans Serif" panose="020B0604020202020204" pitchFamily="34" charset="0"/>
              </a:rPr>
              <a:t>Three-body problem</a:t>
            </a:r>
          </a:p>
          <a:p>
            <a:pPr algn="l">
              <a:lnSpc>
                <a:spcPct val="150000"/>
              </a:lnSpc>
            </a:pPr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Microsoft Sans Serif" panose="020B0604020202020204" pitchFamily="34" charset="0"/>
              </a:rPr>
              <a:t>  - Figure 8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Microsoft Sans Serif" panose="020B0604020202020204" pitchFamily="34" charset="0"/>
              </a:rPr>
              <a:t>궤도와 카오스 </a:t>
            </a:r>
            <a:endParaRPr lang="en-US" altLang="ko-KR" sz="3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596ED6-880E-4A00-4475-5C08C7A596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71852" y="6118813"/>
            <a:ext cx="2556387" cy="447538"/>
          </a:xfrm>
        </p:spPr>
        <p:txBody>
          <a:bodyPr>
            <a:norm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Microsoft Sans Serif" panose="020B0604020202020204" pitchFamily="34" charset="0"/>
              </a:rPr>
              <a:t>20221261 </a:t>
            </a:r>
            <a:r>
              <a:rPr lang="ko-KR" altLang="en-US" sz="18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Microsoft Sans Serif" panose="020B0604020202020204" pitchFamily="34" charset="0"/>
              </a:rPr>
              <a:t>이예담</a:t>
            </a:r>
            <a:endParaRPr lang="ko-KR" altLang="en-US" sz="18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Microsoft Sans Serif" panose="020B060402020202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FE50C73-D196-902B-8D71-11F2425597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83" t="3939" r="11844" b="4253"/>
          <a:stretch>
            <a:fillRect/>
          </a:stretch>
        </p:blipFill>
        <p:spPr>
          <a:xfrm>
            <a:off x="7585678" y="966658"/>
            <a:ext cx="3277417" cy="492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256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30B9-CC3D-FF59-4B53-0899D6E10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A8D76E25-E2EB-7E6D-0BCF-EF2DC05B6885}"/>
              </a:ext>
            </a:extLst>
          </p:cNvPr>
          <p:cNvSpPr/>
          <p:nvPr/>
        </p:nvSpPr>
        <p:spPr>
          <a:xfrm>
            <a:off x="135082" y="114300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CE3141F6-9B00-97F0-2E9E-5FAA96AC4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 이론</a:t>
            </a:r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48252036-6482-F314-8897-DD8452E2715C}"/>
              </a:ext>
            </a:extLst>
          </p:cNvPr>
          <p:cNvSpPr txBox="1">
            <a:spLocks/>
          </p:cNvSpPr>
          <p:nvPr/>
        </p:nvSpPr>
        <p:spPr>
          <a:xfrm>
            <a:off x="734400" y="1208582"/>
            <a:ext cx="6599088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 body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problem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과 카오스</a:t>
            </a:r>
          </a:p>
        </p:txBody>
      </p:sp>
      <p:sp>
        <p:nvSpPr>
          <p:cNvPr id="16" name="부제목 8">
            <a:extLst>
              <a:ext uri="{FF2B5EF4-FFF2-40B4-BE49-F238E27FC236}">
                <a16:creationId xmlns:a16="http://schemas.microsoft.com/office/drawing/2014/main" id="{17B85728-A131-DC5A-A092-EDBA525D3A0A}"/>
              </a:ext>
            </a:extLst>
          </p:cNvPr>
          <p:cNvSpPr txBox="1">
            <a:spLocks/>
          </p:cNvSpPr>
          <p:nvPr/>
        </p:nvSpPr>
        <p:spPr>
          <a:xfrm>
            <a:off x="2611559" y="2115816"/>
            <a:ext cx="6965418" cy="3810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뉴턴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– 2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body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problem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에 대한 해석적 해 제시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body problem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의 상호작용은 훨씬 복잡하여 설명하는 것이 어려움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앙리 </a:t>
            </a:r>
            <a:r>
              <a:rPr lang="ko-KR" altLang="en-US" sz="17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푸앵카레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-&gt; 3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body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problem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은 궤도의 복잡성으로 인해 예측 불가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 </a:t>
            </a:r>
          </a:p>
          <a:p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작은 변화가 시간이 지나며 기하급수적으로 증폭하는 현상 존재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= ‘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카오스 이론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’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의 근간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-&gt;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수치 분석이나 특수 해 이용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4F3FBE6-8BC1-9152-B6F8-1685D8D2D61E}"/>
              </a:ext>
            </a:extLst>
          </p:cNvPr>
          <p:cNvCxnSpPr>
            <a:cxnSpLocks/>
          </p:cNvCxnSpPr>
          <p:nvPr/>
        </p:nvCxnSpPr>
        <p:spPr>
          <a:xfrm>
            <a:off x="6073245" y="3335643"/>
            <a:ext cx="0" cy="18671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732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B7DD9008-0B75-3904-AB2C-E5CA9BC2D20F}"/>
              </a:ext>
            </a:extLst>
          </p:cNvPr>
          <p:cNvSpPr/>
          <p:nvPr/>
        </p:nvSpPr>
        <p:spPr>
          <a:xfrm>
            <a:off x="135082" y="114300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B3AD66D9-8B69-BF7C-F5C3-3F34CF290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 이론</a:t>
            </a:r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2C08A69D-E6E9-E4F2-3FBC-B733FD496032}"/>
              </a:ext>
            </a:extLst>
          </p:cNvPr>
          <p:cNvSpPr txBox="1">
            <a:spLocks/>
          </p:cNvSpPr>
          <p:nvPr/>
        </p:nvSpPr>
        <p:spPr>
          <a:xfrm>
            <a:off x="734400" y="1208582"/>
            <a:ext cx="6599088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운동 방정식 유도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뉴턴의 중력 법칙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+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뉴턴의 운동 제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법칙</a:t>
            </a:r>
            <a:endParaRPr lang="en-US" altLang="ko-KR" sz="1700" b="1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342900" indent="-342900" algn="l">
              <a:buFontTx/>
              <a:buChar char="-"/>
            </a:pPr>
            <a:r>
              <a:rPr lang="ko-KR" altLang="en-US" sz="17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천체를 상호작용하는 점 입자라고 가정</a:t>
            </a:r>
            <a:endParaRPr lang="en-US" altLang="ko-KR" sz="1700" b="1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342900" indent="-342900" algn="l">
              <a:buFontTx/>
              <a:buChar char="-"/>
            </a:pPr>
            <a:endParaRPr lang="ko-KR" altLang="en-US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0BFE6AE-1D2F-E88F-F5D1-1D06F4AAA01E}"/>
                  </a:ext>
                </a:extLst>
              </p:cNvPr>
              <p:cNvSpPr txBox="1"/>
              <p:nvPr/>
            </p:nvSpPr>
            <p:spPr>
              <a:xfrm>
                <a:off x="2323911" y="2516810"/>
                <a:ext cx="4113987" cy="5139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ko-KR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𝐺𝑚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ko-KR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ko-KR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ko-KR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𝐺𝑚</m:t>
                                </m:r>
                              </m:e>
                              <m:sub>
                                <m:r>
                                  <a:rPr lang="en-US" altLang="ko-KR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0BFE6AE-1D2F-E88F-F5D1-1D06F4AAA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911" y="2516810"/>
                <a:ext cx="4113987" cy="513923"/>
              </a:xfrm>
              <a:prstGeom prst="rect">
                <a:avLst/>
              </a:prstGeom>
              <a:blipFill>
                <a:blip r:embed="rId2"/>
                <a:stretch>
                  <a:fillRect l="-1926" b="-130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D6FAFC5-81C0-4E0C-D7F3-61A11A70E84C}"/>
                  </a:ext>
                </a:extLst>
              </p:cNvPr>
              <p:cNvSpPr txBox="1"/>
              <p:nvPr/>
            </p:nvSpPr>
            <p:spPr>
              <a:xfrm>
                <a:off x="2316758" y="3330658"/>
                <a:ext cx="4113987" cy="299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bg1"/>
                    </a:solidFill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acc>
                      <m:accPr>
                        <m:chr m:val="̈"/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ko-KR" dirty="0">
                    <a:solidFill>
                      <a:schemeClr val="bg1"/>
                    </a:solidFill>
                  </a:rPr>
                  <a:t> </a:t>
                </a:r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D6FAFC5-81C0-4E0C-D7F3-61A11A70E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758" y="3330658"/>
                <a:ext cx="4113987" cy="299313"/>
              </a:xfrm>
              <a:prstGeom prst="rect">
                <a:avLst/>
              </a:prstGeom>
              <a:blipFill>
                <a:blip r:embed="rId3"/>
                <a:stretch>
                  <a:fillRect l="-1926" t="-28571" b="-387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부제목 8">
            <a:extLst>
              <a:ext uri="{FF2B5EF4-FFF2-40B4-BE49-F238E27FC236}">
                <a16:creationId xmlns:a16="http://schemas.microsoft.com/office/drawing/2014/main" id="{573DE5E3-900B-FA63-063C-FA80986D49D5}"/>
              </a:ext>
            </a:extLst>
          </p:cNvPr>
          <p:cNvSpPr txBox="1">
            <a:spLocks/>
          </p:cNvSpPr>
          <p:nvPr/>
        </p:nvSpPr>
        <p:spPr>
          <a:xfrm>
            <a:off x="2015192" y="4022672"/>
            <a:ext cx="3440651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=&gt;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연립하여 가속도에 대해 정리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C90545AD-4CF2-1CAD-33A9-44FEEAB69FDC}"/>
              </a:ext>
            </a:extLst>
          </p:cNvPr>
          <p:cNvSpPr/>
          <p:nvPr/>
        </p:nvSpPr>
        <p:spPr>
          <a:xfrm>
            <a:off x="8691824" y="1738366"/>
            <a:ext cx="361741" cy="35169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2657657C-3A3E-AF45-B9E0-4415385E3FB2}"/>
              </a:ext>
            </a:extLst>
          </p:cNvPr>
          <p:cNvSpPr/>
          <p:nvPr/>
        </p:nvSpPr>
        <p:spPr>
          <a:xfrm>
            <a:off x="10890295" y="3387234"/>
            <a:ext cx="361741" cy="35169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74F7D6D-A447-45E7-9996-FF4FFB8C4F10}"/>
              </a:ext>
            </a:extLst>
          </p:cNvPr>
          <p:cNvSpPr/>
          <p:nvPr/>
        </p:nvSpPr>
        <p:spPr>
          <a:xfrm>
            <a:off x="8275614" y="4353801"/>
            <a:ext cx="361741" cy="3516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8FE7FCDB-98A2-7674-9CE8-B34C54702A04}"/>
              </a:ext>
            </a:extLst>
          </p:cNvPr>
          <p:cNvCxnSpPr>
            <a:cxnSpLocks/>
          </p:cNvCxnSpPr>
          <p:nvPr/>
        </p:nvCxnSpPr>
        <p:spPr>
          <a:xfrm flipV="1">
            <a:off x="8456483" y="3566940"/>
            <a:ext cx="2668626" cy="96656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부제목 8">
            <a:extLst>
              <a:ext uri="{FF2B5EF4-FFF2-40B4-BE49-F238E27FC236}">
                <a16:creationId xmlns:a16="http://schemas.microsoft.com/office/drawing/2014/main" id="{B30B901A-4A96-26B7-C265-D8C101F479F8}"/>
              </a:ext>
            </a:extLst>
          </p:cNvPr>
          <p:cNvSpPr txBox="1">
            <a:spLocks/>
          </p:cNvSpPr>
          <p:nvPr/>
        </p:nvSpPr>
        <p:spPr>
          <a:xfrm>
            <a:off x="8641821" y="1541337"/>
            <a:ext cx="361741" cy="32392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</a:t>
            </a:r>
            <a:endParaRPr lang="en-US" altLang="ko-KR" sz="1700" b="1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342900" indent="-342900" algn="l">
              <a:buFontTx/>
              <a:buChar char="-"/>
            </a:pPr>
            <a:endParaRPr lang="ko-KR" altLang="en-US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4" name="부제목 8">
            <a:extLst>
              <a:ext uri="{FF2B5EF4-FFF2-40B4-BE49-F238E27FC236}">
                <a16:creationId xmlns:a16="http://schemas.microsoft.com/office/drawing/2014/main" id="{E3E43997-A95B-DED6-178D-ED2F4D572464}"/>
              </a:ext>
            </a:extLst>
          </p:cNvPr>
          <p:cNvSpPr txBox="1">
            <a:spLocks/>
          </p:cNvSpPr>
          <p:nvPr/>
        </p:nvSpPr>
        <p:spPr>
          <a:xfrm>
            <a:off x="8101895" y="4631892"/>
            <a:ext cx="361741" cy="32392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</a:t>
            </a:r>
          </a:p>
          <a:p>
            <a:pPr marL="342900" indent="-342900" algn="l">
              <a:buFontTx/>
              <a:buChar char="-"/>
            </a:pPr>
            <a:endParaRPr lang="ko-KR" altLang="en-US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5" name="부제목 8">
            <a:extLst>
              <a:ext uri="{FF2B5EF4-FFF2-40B4-BE49-F238E27FC236}">
                <a16:creationId xmlns:a16="http://schemas.microsoft.com/office/drawing/2014/main" id="{0091CC98-3FA6-BA4D-5661-B874A8286EBA}"/>
              </a:ext>
            </a:extLst>
          </p:cNvPr>
          <p:cNvSpPr txBox="1">
            <a:spLocks/>
          </p:cNvSpPr>
          <p:nvPr/>
        </p:nvSpPr>
        <p:spPr>
          <a:xfrm>
            <a:off x="11164077" y="3398778"/>
            <a:ext cx="361741" cy="32392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</a:t>
            </a:r>
          </a:p>
          <a:p>
            <a:pPr marL="342900" indent="-342900" algn="l">
              <a:buFontTx/>
              <a:buChar char="-"/>
            </a:pPr>
            <a:endParaRPr lang="ko-KR" altLang="en-US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8596AE0-30A2-51A0-07B6-9FA100F49760}"/>
              </a:ext>
            </a:extLst>
          </p:cNvPr>
          <p:cNvCxnSpPr/>
          <p:nvPr/>
        </p:nvCxnSpPr>
        <p:spPr>
          <a:xfrm>
            <a:off x="8877615" y="1916937"/>
            <a:ext cx="2261014" cy="164886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23957066-C3C6-CD8D-D2EA-3B4C874125F6}"/>
              </a:ext>
            </a:extLst>
          </p:cNvPr>
          <p:cNvCxnSpPr>
            <a:cxnSpLocks/>
          </p:cNvCxnSpPr>
          <p:nvPr/>
        </p:nvCxnSpPr>
        <p:spPr>
          <a:xfrm flipV="1">
            <a:off x="8526822" y="4287003"/>
            <a:ext cx="582805" cy="22927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E9099401-5DA3-1363-B01F-DEEAD5A7F2AC}"/>
              </a:ext>
            </a:extLst>
          </p:cNvPr>
          <p:cNvCxnSpPr>
            <a:cxnSpLocks/>
          </p:cNvCxnSpPr>
          <p:nvPr/>
        </p:nvCxnSpPr>
        <p:spPr>
          <a:xfrm flipH="1">
            <a:off x="10507841" y="3597028"/>
            <a:ext cx="563324" cy="20129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81AEEA9-832E-0F55-9A79-BC9F60C1516F}"/>
              </a:ext>
            </a:extLst>
          </p:cNvPr>
          <p:cNvCxnSpPr>
            <a:cxnSpLocks/>
          </p:cNvCxnSpPr>
          <p:nvPr/>
        </p:nvCxnSpPr>
        <p:spPr>
          <a:xfrm>
            <a:off x="9015207" y="2006258"/>
            <a:ext cx="452176" cy="336619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D896132F-A460-80B9-C22A-4EECB4CB0CF7}"/>
              </a:ext>
            </a:extLst>
          </p:cNvPr>
          <p:cNvCxnSpPr>
            <a:cxnSpLocks/>
          </p:cNvCxnSpPr>
          <p:nvPr/>
        </p:nvCxnSpPr>
        <p:spPr>
          <a:xfrm flipH="1" flipV="1">
            <a:off x="10652176" y="3224605"/>
            <a:ext cx="429037" cy="31397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D67E066F-6DB1-8CFB-68F9-7822185AD4CA}"/>
              </a:ext>
            </a:extLst>
          </p:cNvPr>
          <p:cNvCxnSpPr>
            <a:cxnSpLocks/>
          </p:cNvCxnSpPr>
          <p:nvPr/>
        </p:nvCxnSpPr>
        <p:spPr>
          <a:xfrm flipH="1">
            <a:off x="8463636" y="1927580"/>
            <a:ext cx="382952" cy="260206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882D30E-709E-6A5D-E283-F75D22C7B3A3}"/>
              </a:ext>
            </a:extLst>
          </p:cNvPr>
          <p:cNvCxnSpPr>
            <a:cxnSpLocks/>
          </p:cNvCxnSpPr>
          <p:nvPr/>
        </p:nvCxnSpPr>
        <p:spPr>
          <a:xfrm flipV="1">
            <a:off x="8456484" y="3817476"/>
            <a:ext cx="101869" cy="614875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6993069-5933-1249-5005-A10B31E47FBF}"/>
              </a:ext>
            </a:extLst>
          </p:cNvPr>
          <p:cNvCxnSpPr>
            <a:cxnSpLocks/>
          </p:cNvCxnSpPr>
          <p:nvPr/>
        </p:nvCxnSpPr>
        <p:spPr>
          <a:xfrm flipH="1">
            <a:off x="8753032" y="2001234"/>
            <a:ext cx="100484" cy="612949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A829E48-0118-0AC4-2533-2250FA4825E1}"/>
                  </a:ext>
                </a:extLst>
              </p:cNvPr>
              <p:cNvSpPr txBox="1"/>
              <p:nvPr/>
            </p:nvSpPr>
            <p:spPr>
              <a:xfrm>
                <a:off x="7943260" y="2929909"/>
                <a:ext cx="91884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A829E48-0118-0AC4-2533-2250FA482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3260" y="2929909"/>
                <a:ext cx="918842" cy="276999"/>
              </a:xfrm>
              <a:prstGeom prst="rect">
                <a:avLst/>
              </a:prstGeom>
              <a:blipFill>
                <a:blip r:embed="rId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B0CB68C-1C6B-3C27-77EA-737A760CE155}"/>
                  </a:ext>
                </a:extLst>
              </p:cNvPr>
              <p:cNvSpPr txBox="1"/>
              <p:nvPr/>
            </p:nvSpPr>
            <p:spPr>
              <a:xfrm>
                <a:off x="9870661" y="2493077"/>
                <a:ext cx="91884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B0CB68C-1C6B-3C27-77EA-737A760CE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0661" y="2493077"/>
                <a:ext cx="918842" cy="276999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9517EC8-883F-F3B3-7959-52A0A405CDF2}"/>
                  </a:ext>
                </a:extLst>
              </p:cNvPr>
              <p:cNvSpPr txBox="1"/>
              <p:nvPr/>
            </p:nvSpPr>
            <p:spPr>
              <a:xfrm>
                <a:off x="9475005" y="4215301"/>
                <a:ext cx="91884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9517EC8-883F-F3B3-7959-52A0A405C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5005" y="4215301"/>
                <a:ext cx="918842" cy="276999"/>
              </a:xfrm>
              <a:prstGeom prst="rect">
                <a:avLst/>
              </a:prstGeom>
              <a:blipFill>
                <a:blip r:embed="rId6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1079BA2-F1B0-3511-0A60-37AEC7419E28}"/>
                  </a:ext>
                </a:extLst>
              </p:cNvPr>
              <p:cNvSpPr txBox="1"/>
              <p:nvPr/>
            </p:nvSpPr>
            <p:spPr>
              <a:xfrm>
                <a:off x="8080852" y="2056630"/>
                <a:ext cx="91884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1079BA2-F1B0-3511-0A60-37AEC7419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852" y="2056630"/>
                <a:ext cx="918842" cy="276999"/>
              </a:xfrm>
              <a:prstGeom prst="rect">
                <a:avLst/>
              </a:prstGeom>
              <a:blipFill>
                <a:blip r:embed="rId7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51CDDA6-801B-A4BF-9299-104F7FAD0A79}"/>
                  </a:ext>
                </a:extLst>
              </p:cNvPr>
              <p:cNvSpPr txBox="1"/>
              <p:nvPr/>
            </p:nvSpPr>
            <p:spPr>
              <a:xfrm>
                <a:off x="7766361" y="3877261"/>
                <a:ext cx="91884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51CDDA6-801B-A4BF-9299-104F7FAD0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6361" y="3877261"/>
                <a:ext cx="918842" cy="276999"/>
              </a:xfrm>
              <a:prstGeom prst="rect">
                <a:avLst/>
              </a:prstGeom>
              <a:blipFill>
                <a:blip r:embed="rId8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B576344-95C9-EC47-4A5A-52161A9C88BA}"/>
                  </a:ext>
                </a:extLst>
              </p:cNvPr>
              <p:cNvSpPr txBox="1"/>
              <p:nvPr/>
            </p:nvSpPr>
            <p:spPr>
              <a:xfrm>
                <a:off x="8965569" y="1836044"/>
                <a:ext cx="91884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B576344-95C9-EC47-4A5A-52161A9C8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5569" y="1836044"/>
                <a:ext cx="918842" cy="276999"/>
              </a:xfrm>
              <a:prstGeom prst="rect">
                <a:avLst/>
              </a:prstGeom>
              <a:blipFill>
                <a:blip r:embed="rId9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80374F3-AB96-56D5-B9DC-10E9CD2DF00D}"/>
                  </a:ext>
                </a:extLst>
              </p:cNvPr>
              <p:cNvSpPr txBox="1"/>
              <p:nvPr/>
            </p:nvSpPr>
            <p:spPr>
              <a:xfrm>
                <a:off x="10507841" y="2873111"/>
                <a:ext cx="91884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80374F3-AB96-56D5-B9DC-10E9CD2DF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7841" y="2873111"/>
                <a:ext cx="918842" cy="276999"/>
              </a:xfrm>
              <a:prstGeom prst="rect">
                <a:avLst/>
              </a:prstGeom>
              <a:blipFill>
                <a:blip r:embed="rId10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EB65F3C-6A7D-F65F-7AAD-7AE447CE7ACF}"/>
                  </a:ext>
                </a:extLst>
              </p:cNvPr>
              <p:cNvSpPr txBox="1"/>
              <p:nvPr/>
            </p:nvSpPr>
            <p:spPr>
              <a:xfrm>
                <a:off x="10520476" y="3836182"/>
                <a:ext cx="91884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EB65F3C-6A7D-F65F-7AAD-7AE447CE7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0476" y="3836182"/>
                <a:ext cx="918842" cy="276999"/>
              </a:xfrm>
              <a:prstGeom prst="rect">
                <a:avLst/>
              </a:prstGeom>
              <a:blipFill>
                <a:blip r:embed="rId11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AF1B46E-AE4D-26B1-EEDF-7454A2096E28}"/>
                  </a:ext>
                </a:extLst>
              </p:cNvPr>
              <p:cNvSpPr txBox="1"/>
              <p:nvPr/>
            </p:nvSpPr>
            <p:spPr>
              <a:xfrm>
                <a:off x="8526822" y="4561513"/>
                <a:ext cx="91884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AF1B46E-AE4D-26B1-EEDF-7454A2096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6822" y="4561513"/>
                <a:ext cx="918842" cy="276999"/>
              </a:xfrm>
              <a:prstGeom prst="rect">
                <a:avLst/>
              </a:prstGeom>
              <a:blipFill>
                <a:blip r:embed="rId12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03C1B142-6885-CC7D-3AFF-375260760739}"/>
                  </a:ext>
                </a:extLst>
              </p:cNvPr>
              <p:cNvSpPr txBox="1"/>
              <p:nvPr/>
            </p:nvSpPr>
            <p:spPr>
              <a:xfrm>
                <a:off x="2795279" y="4725735"/>
                <a:ext cx="4113987" cy="4896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altLang="ko-KR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altLang="ko-KR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ko-KR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f>
                      <m:f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03C1B142-6885-CC7D-3AFF-375260760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279" y="4725735"/>
                <a:ext cx="4113987" cy="489621"/>
              </a:xfrm>
              <a:prstGeom prst="rect">
                <a:avLst/>
              </a:prstGeom>
              <a:blipFill>
                <a:blip r:embed="rId13"/>
                <a:stretch>
                  <a:fillRect l="-1484" t="-83951" b="-1197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628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07880-0F98-2688-9C8C-1EAAE3234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6567741E-E3C0-5C68-A35F-37705F8DA5F9}"/>
              </a:ext>
            </a:extLst>
          </p:cNvPr>
          <p:cNvSpPr/>
          <p:nvPr/>
        </p:nvSpPr>
        <p:spPr>
          <a:xfrm>
            <a:off x="136813" y="118479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24FD497A-684E-2F5F-058D-A17D33BBA8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 이론</a:t>
            </a:r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1E20E084-FDF5-AFBF-0E84-AFD7DB8CA1E4}"/>
              </a:ext>
            </a:extLst>
          </p:cNvPr>
          <p:cNvSpPr txBox="1">
            <a:spLocks/>
          </p:cNvSpPr>
          <p:nvPr/>
        </p:nvSpPr>
        <p:spPr>
          <a:xfrm>
            <a:off x="670604" y="1206144"/>
            <a:ext cx="11216596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미분 방정식 풀이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= ‘RK4’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방법 사용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                                      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- 1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계 미분 방정식을 푸는 데 적합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322220-D66E-7A63-131B-0D6281F11202}"/>
                  </a:ext>
                </a:extLst>
              </p:cNvPr>
              <p:cNvSpPr txBox="1"/>
              <p:nvPr/>
            </p:nvSpPr>
            <p:spPr>
              <a:xfrm>
                <a:off x="7091597" y="2508599"/>
                <a:ext cx="3143624" cy="5442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  <m:r>
                        <a:rPr lang="en-US" altLang="ko-KR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𝑑𝑟</m:t>
                          </m:r>
                        </m:num>
                        <m:den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322220-D66E-7A63-131B-0D6281F11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597" y="2508599"/>
                <a:ext cx="3143624" cy="5442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부제목 8">
            <a:extLst>
              <a:ext uri="{FF2B5EF4-FFF2-40B4-BE49-F238E27FC236}">
                <a16:creationId xmlns:a16="http://schemas.microsoft.com/office/drawing/2014/main" id="{0E6BA5AB-C94B-A472-1B58-E5B042836EC2}"/>
              </a:ext>
            </a:extLst>
          </p:cNvPr>
          <p:cNvSpPr txBox="1">
            <a:spLocks/>
          </p:cNvSpPr>
          <p:nvPr/>
        </p:nvSpPr>
        <p:spPr>
          <a:xfrm>
            <a:off x="3470326" y="3614274"/>
            <a:ext cx="5251348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계 </a:t>
            </a:r>
            <a:r>
              <a:rPr lang="ko-KR" altLang="en-US" sz="17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미방을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계 미방으로 나누어 생각</a:t>
            </a:r>
          </a:p>
        </p:txBody>
      </p:sp>
      <p:sp>
        <p:nvSpPr>
          <p:cNvPr id="2" name="부제목 8">
            <a:extLst>
              <a:ext uri="{FF2B5EF4-FFF2-40B4-BE49-F238E27FC236}">
                <a16:creationId xmlns:a16="http://schemas.microsoft.com/office/drawing/2014/main" id="{4C81EED1-D2D6-6797-F92A-4E6292804E41}"/>
              </a:ext>
            </a:extLst>
          </p:cNvPr>
          <p:cNvSpPr txBox="1">
            <a:spLocks/>
          </p:cNvSpPr>
          <p:nvPr/>
        </p:nvSpPr>
        <p:spPr>
          <a:xfrm>
            <a:off x="3470326" y="4924460"/>
            <a:ext cx="5251348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상태벡터를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RK4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를 이용해 풀이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!</a:t>
            </a:r>
          </a:p>
          <a:p>
            <a:endParaRPr lang="ko-KR" altLang="en-US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35053F-5BF0-D150-A270-73A45626029E}"/>
                  </a:ext>
                </a:extLst>
              </p:cNvPr>
              <p:cNvSpPr txBox="1"/>
              <p:nvPr/>
            </p:nvSpPr>
            <p:spPr>
              <a:xfrm>
                <a:off x="2715785" y="2533142"/>
                <a:ext cx="4375812" cy="4896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altLang="ko-KR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altLang="ko-KR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ko-KR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f>
                      <m:f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35053F-5BF0-D150-A270-73A456260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785" y="2533142"/>
                <a:ext cx="4375812" cy="489621"/>
              </a:xfrm>
              <a:prstGeom prst="rect">
                <a:avLst/>
              </a:prstGeom>
              <a:blipFill>
                <a:blip r:embed="rId3"/>
                <a:stretch>
                  <a:fillRect l="-1395" t="-86250" b="-121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BF1AC81-B6F2-618E-547F-C006F116CE3D}"/>
                  </a:ext>
                </a:extLst>
              </p:cNvPr>
              <p:cNvSpPr txBox="1"/>
              <p:nvPr/>
            </p:nvSpPr>
            <p:spPr>
              <a:xfrm>
                <a:off x="5805003" y="2508599"/>
                <a:ext cx="3143624" cy="5442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altLang="ko-KR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BF1AC81-B6F2-618E-547F-C006F116C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003" y="2508599"/>
                <a:ext cx="3143624" cy="5442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81B6E8-0652-E1F1-1182-9300662836DC}"/>
                  </a:ext>
                </a:extLst>
              </p:cNvPr>
              <p:cNvSpPr txBox="1"/>
              <p:nvPr/>
            </p:nvSpPr>
            <p:spPr>
              <a:xfrm>
                <a:off x="4524187" y="4380208"/>
                <a:ext cx="314362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81B6E8-0652-E1F1-1182-930066283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187" y="4380208"/>
                <a:ext cx="3143624" cy="276999"/>
              </a:xfrm>
              <a:prstGeom prst="rect">
                <a:avLst/>
              </a:prstGeom>
              <a:blipFill>
                <a:blip r:embed="rId5"/>
                <a:stretch>
                  <a:fillRect b="-4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4C5DBCB-BDBD-ADFF-47AD-75059C516D7F}"/>
              </a:ext>
            </a:extLst>
          </p:cNvPr>
          <p:cNvCxnSpPr>
            <a:cxnSpLocks/>
          </p:cNvCxnSpPr>
          <p:nvPr/>
        </p:nvCxnSpPr>
        <p:spPr>
          <a:xfrm flipV="1">
            <a:off x="5859049" y="2766343"/>
            <a:ext cx="473899" cy="277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8532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E9BF5-389E-A026-1958-4214E0E42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3D7DCC35-2C3F-63AE-C5B2-0F53BFB3BBEE}"/>
              </a:ext>
            </a:extLst>
          </p:cNvPr>
          <p:cNvSpPr/>
          <p:nvPr/>
        </p:nvSpPr>
        <p:spPr>
          <a:xfrm>
            <a:off x="136813" y="118479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71EA1CD1-D81D-BE7E-C0F1-4AB637644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 이론</a:t>
            </a:r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D3CD953F-E866-D029-783F-2747813BEE23}"/>
              </a:ext>
            </a:extLst>
          </p:cNvPr>
          <p:cNvSpPr txBox="1">
            <a:spLocks/>
          </p:cNvSpPr>
          <p:nvPr/>
        </p:nvSpPr>
        <p:spPr>
          <a:xfrm>
            <a:off x="670604" y="1206144"/>
            <a:ext cx="11216596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미분 방정식 풀이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= ‘RK4’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방법 사용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                                      -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∆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간격으로 궤도를 예측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                                     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∆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내의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4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 지점에서 기울기를 계산 후 가중 평균하여 다음 위치 예측  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3804EE-2F68-F806-B74C-40936D2EE1B2}"/>
                  </a:ext>
                </a:extLst>
              </p:cNvPr>
              <p:cNvSpPr txBox="1"/>
              <p:nvPr/>
            </p:nvSpPr>
            <p:spPr>
              <a:xfrm>
                <a:off x="4090996" y="2674145"/>
                <a:ext cx="4375812" cy="4914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7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7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7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7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ko-KR" sz="17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ko-KR" altLang="en-US" sz="1700" dirty="0">
                          <a:solidFill>
                            <a:schemeClr val="bg1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m:t>∆</m:t>
                      </m:r>
                      <m:r>
                        <m:rPr>
                          <m:nor/>
                        </m:rPr>
                        <a:rPr lang="en-US" altLang="ko-KR" sz="1700" dirty="0">
                          <a:solidFill>
                            <a:schemeClr val="bg1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m:t>t</m:t>
                      </m:r>
                    </m:oMath>
                  </m:oMathPara>
                </a14:m>
                <a:endParaRPr lang="ko-KR" altLang="en-US" sz="17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3804EE-2F68-F806-B74C-40936D2EE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0996" y="2674145"/>
                <a:ext cx="4375812" cy="4914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232C27F-E06F-81C0-E19B-F27662445F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071300"/>
                  </p:ext>
                </p:extLst>
              </p:nvPr>
            </p:nvGraphicFramePr>
            <p:xfrm>
              <a:off x="2193052" y="3608035"/>
              <a:ext cx="8171699" cy="24901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9020">
                      <a:extLst>
                        <a:ext uri="{9D8B030D-6E8A-4147-A177-3AD203B41FA5}">
                          <a16:colId xmlns:a16="http://schemas.microsoft.com/office/drawing/2014/main" val="2878426661"/>
                        </a:ext>
                      </a:extLst>
                    </a:gridCol>
                    <a:gridCol w="3326296">
                      <a:extLst>
                        <a:ext uri="{9D8B030D-6E8A-4147-A177-3AD203B41FA5}">
                          <a16:colId xmlns:a16="http://schemas.microsoft.com/office/drawing/2014/main" val="1252495260"/>
                        </a:ext>
                      </a:extLst>
                    </a:gridCol>
                    <a:gridCol w="3856383">
                      <a:extLst>
                        <a:ext uri="{9D8B030D-6E8A-4147-A177-3AD203B41FA5}">
                          <a16:colId xmlns:a16="http://schemas.microsoft.com/office/drawing/2014/main" val="4823237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ko-KR" altLang="en-US" sz="1700" b="1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기울기</a:t>
                          </a:r>
                          <a:endParaRPr lang="ko-KR" altLang="en-US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ko-KR" altLang="en-US" sz="1700" b="1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공식</a:t>
                          </a:r>
                          <a:endParaRPr lang="ko-KR" altLang="en-US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ko-KR" altLang="en-US" sz="1700" b="1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의미</a:t>
                          </a:r>
                          <a:endParaRPr lang="ko-KR" altLang="en-US" sz="170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520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𝑓</m:t>
                                </m:r>
                                <m:r>
                                  <a:rPr lang="en-US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 , </m:t>
                                </m:r>
                                <m:sSub>
                                  <m:sSubPr>
                                    <m:ctrlPr>
                                      <a:rPr lang="en-US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 )</m:t>
                                </m:r>
                              </m:oMath>
                            </m:oMathPara>
                          </a14:m>
                          <a:endParaRPr lang="pt-BR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ko-KR" altLang="en-US" sz="1700" b="1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시작점</a:t>
                          </a:r>
                          <a:r>
                            <a:rPr lang="ko-KR" altLang="en-US" sz="1700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에서의 기울기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ko-KR" altLang="en-US" sz="1600" dirty="0" smtClean="0">
                                  <a:solidFill>
                                    <a:schemeClr val="bg1"/>
                                  </a:solidFill>
                                  <a:latin typeface="나눔스퀘어_ac ExtraBold" panose="020B0600000101010101" pitchFamily="50" charset="-127"/>
                                  <a:ea typeface="나눔스퀘어_ac ExtraBold" panose="020B0600000101010101" pitchFamily="50" charset="-127"/>
                                </a:rPr>
                                <m:t>∆</m:t>
                              </m:r>
                              <m:r>
                                <m:rPr>
                                  <m:nor/>
                                </m:rPr>
                                <a:rPr lang="en-US" altLang="ko-KR" sz="1600" dirty="0" smtClean="0">
                                  <a:solidFill>
                                    <a:schemeClr val="bg1"/>
                                  </a:solidFill>
                                  <a:latin typeface="나눔스퀘어_ac ExtraBold" panose="020B0600000101010101" pitchFamily="50" charset="-127"/>
                                  <a:ea typeface="나눔스퀘어_ac ExtraBold" panose="020B0600000101010101" pitchFamily="50" charset="-127"/>
                                </a:rPr>
                                <m:t>t</m:t>
                              </m:r>
                            </m:oMath>
                          </a14:m>
                          <a:r>
                            <a:rPr lang="en-US" altLang="ko-KR" sz="1700" dirty="0">
                              <a:solidFill>
                                <a:schemeClr val="bg1"/>
                              </a:solidFill>
                              <a:effectLst/>
                              <a:latin typeface="Bell MT" panose="02020503060305020303" pitchFamily="18" charset="0"/>
                              <a:ea typeface="나눔스퀘어_ac Bold" panose="020B0600000101010101" pitchFamily="50" charset="-127"/>
                            </a:rPr>
                            <a:t>∙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ko-KR" sz="1700" b="0" i="1" dirty="0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나눔스퀘어_ac Bold" panose="020B0600000101010101" pitchFamily="50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700" b="0" i="1" dirty="0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나눔스퀘어_ac Bold" panose="020B0600000101010101" pitchFamily="50" charset="-127"/>
                                    </a:rPr>
                                    <m:t>𝑑𝑤</m:t>
                                  </m:r>
                                </m:num>
                                <m:den>
                                  <m:r>
                                    <a:rPr lang="en-US" altLang="ko-KR" sz="1700" b="0" i="1" dirty="0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나눔스퀘어_ac Bold" panose="020B0600000101010101" pitchFamily="50" charset="-127"/>
                                    </a:rPr>
                                    <m:t>𝑑𝑡</m:t>
                                  </m:r>
                                </m:den>
                              </m:f>
                            </m:oMath>
                          </a14:m>
                          <a:endParaRPr lang="en-US" altLang="ko-KR" sz="1700" b="0" dirty="0">
                            <a:solidFill>
                              <a:schemeClr val="bg1"/>
                            </a:solidFill>
                            <a:effectLst/>
                            <a:latin typeface="Bell MT" panose="02020503060305020303" pitchFamily="18" charset="0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300125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𝑓</m:t>
                                </m:r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ko-KR" altLang="en-US" sz="1700" dirty="0" smtClean="0">
                                        <a:solidFill>
                                          <a:schemeClr val="bg1"/>
                                        </a:solidFill>
                                        <a:latin typeface="나눔스퀘어_ac ExtraBold" panose="020B0600000101010101" pitchFamily="50" charset="-127"/>
                                        <a:ea typeface="나눔스퀘어_ac ExtraBold" panose="020B0600000101010101" pitchFamily="50" charset="-127"/>
                                      </a:rPr>
                                      <m:t>∆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ko-KR" sz="1700" dirty="0" smtClean="0">
                                        <a:solidFill>
                                          <a:schemeClr val="bg1"/>
                                        </a:solidFill>
                                        <a:latin typeface="나눔스퀘어_ac ExtraBold" panose="020B0600000101010101" pitchFamily="50" charset="-127"/>
                                        <a:ea typeface="나눔스퀘어_ac ExtraBold" panose="020B0600000101010101" pitchFamily="50" charset="-127"/>
                                      </a:rPr>
                                      <m:t>t</m:t>
                                    </m:r>
                                  </m:num>
                                  <m:den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 , </m:t>
                                </m:r>
                                <m:sSub>
                                  <m:sSubPr>
                                    <m:ctrlP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7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7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ko-KR" sz="17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ko-KR" altLang="en-US" sz="1700" dirty="0" smtClean="0">
                                        <a:solidFill>
                                          <a:schemeClr val="bg1"/>
                                        </a:solidFill>
                                        <a:latin typeface="나눔스퀘어_ac ExtraBold" panose="020B0600000101010101" pitchFamily="50" charset="-127"/>
                                        <a:ea typeface="나눔스퀘어_ac ExtraBold" panose="020B0600000101010101" pitchFamily="50" charset="-127"/>
                                      </a:rPr>
                                      <m:t>∆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ko-KR" sz="1700" dirty="0" smtClean="0">
                                        <a:solidFill>
                                          <a:schemeClr val="bg1"/>
                                        </a:solidFill>
                                        <a:latin typeface="나눔스퀘어_ac ExtraBold" panose="020B0600000101010101" pitchFamily="50" charset="-127"/>
                                        <a:ea typeface="나눔스퀘어_ac ExtraBold" panose="020B0600000101010101" pitchFamily="50" charset="-127"/>
                                      </a:rPr>
                                      <m:t>t</m:t>
                                    </m:r>
                                  </m:num>
                                  <m:den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altLang="ko-KR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sz="1700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으로 예측한 </a:t>
                          </a:r>
                          <a:r>
                            <a:rPr lang="ko-KR" altLang="en-US" sz="1700" b="1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중간점</a:t>
                          </a:r>
                          <a:r>
                            <a:rPr lang="ko-KR" altLang="en-US" sz="1700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에서의 기울기</a:t>
                          </a:r>
                        </a:p>
                      </a:txBody>
                      <a:tcPr marT="60960" marB="6096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3406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𝑓</m:t>
                                </m:r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ko-KR" altLang="en-US" sz="1700" dirty="0" smtClean="0">
                                        <a:solidFill>
                                          <a:schemeClr val="bg1"/>
                                        </a:solidFill>
                                        <a:latin typeface="나눔스퀘어_ac ExtraBold" panose="020B0600000101010101" pitchFamily="50" charset="-127"/>
                                        <a:ea typeface="나눔스퀘어_ac ExtraBold" panose="020B0600000101010101" pitchFamily="50" charset="-127"/>
                                      </a:rPr>
                                      <m:t>∆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ko-KR" sz="1700" dirty="0" smtClean="0">
                                        <a:solidFill>
                                          <a:schemeClr val="bg1"/>
                                        </a:solidFill>
                                        <a:latin typeface="나눔스퀘어_ac ExtraBold" panose="020B0600000101010101" pitchFamily="50" charset="-127"/>
                                        <a:ea typeface="나눔스퀘어_ac ExtraBold" panose="020B0600000101010101" pitchFamily="50" charset="-127"/>
                                      </a:rPr>
                                      <m:t>t</m:t>
                                    </m:r>
                                  </m:num>
                                  <m:den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 , </m:t>
                                </m:r>
                                <m:sSub>
                                  <m:sSubPr>
                                    <m:ctrlP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7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7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ko-KR" sz="17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ko-KR" altLang="en-US" sz="1700" dirty="0" smtClean="0">
                                        <a:solidFill>
                                          <a:schemeClr val="bg1"/>
                                        </a:solidFill>
                                        <a:latin typeface="나눔스퀘어_ac ExtraBold" panose="020B0600000101010101" pitchFamily="50" charset="-127"/>
                                        <a:ea typeface="나눔스퀘어_ac ExtraBold" panose="020B0600000101010101" pitchFamily="50" charset="-127"/>
                                      </a:rPr>
                                      <m:t>∆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ko-KR" sz="1700" dirty="0" smtClean="0">
                                        <a:solidFill>
                                          <a:schemeClr val="bg1"/>
                                        </a:solidFill>
                                        <a:latin typeface="나눔스퀘어_ac ExtraBold" panose="020B0600000101010101" pitchFamily="50" charset="-127"/>
                                        <a:ea typeface="나눔스퀘어_ac ExtraBold" panose="020B0600000101010101" pitchFamily="50" charset="-127"/>
                                      </a:rPr>
                                      <m:t>t</m:t>
                                    </m:r>
                                  </m:num>
                                  <m:den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altLang="ko-KR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sz="1700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로 재조정한 </a:t>
                          </a:r>
                          <a:r>
                            <a:rPr lang="ko-KR" altLang="en-US" sz="1700" b="1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중간점</a:t>
                          </a:r>
                          <a:r>
                            <a:rPr lang="ko-KR" altLang="en-US" sz="1700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에서의 기울기</a:t>
                          </a:r>
                        </a:p>
                      </a:txBody>
                      <a:tcPr marT="60960" marB="6096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576840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𝑓</m:t>
                                </m:r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ko-KR" altLang="en-US" sz="1700" dirty="0" smtClean="0">
                                    <a:solidFill>
                                      <a:schemeClr val="bg1"/>
                                    </a:solidFill>
                                    <a:latin typeface="나눔스퀘어_ac ExtraBold" panose="020B0600000101010101" pitchFamily="50" charset="-127"/>
                                    <a:ea typeface="나눔스퀘어_ac ExtraBold" panose="020B0600000101010101" pitchFamily="50" charset="-127"/>
                                  </a:rPr>
                                  <m:t>∆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sz="1700" dirty="0" smtClean="0">
                                    <a:solidFill>
                                      <a:schemeClr val="bg1"/>
                                    </a:solidFill>
                                    <a:latin typeface="나눔스퀘어_ac ExtraBold" panose="020B0600000101010101" pitchFamily="50" charset="-127"/>
                                    <a:ea typeface="나눔스퀘어_ac ExtraBold" panose="020B0600000101010101" pitchFamily="50" charset="-127"/>
                                  </a:rPr>
                                  <m:t>t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sz="1700" b="0" i="0" dirty="0" smtClean="0">
                                    <a:solidFill>
                                      <a:schemeClr val="bg1"/>
                                    </a:solidFill>
                                    <a:latin typeface="나눔스퀘어_ac ExtraBold" panose="020B0600000101010101" pitchFamily="50" charset="-127"/>
                                    <a:ea typeface="나눔스퀘어_ac ExtraBold" panose="020B0600000101010101" pitchFamily="50" charset="-127"/>
                                  </a:rPr>
                                  <m:t> </m:t>
                                </m:r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7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나눔스퀘어_ac Bold" panose="020B0600000101010101" pitchFamily="50" charset="-127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ko-KR" altLang="en-US" sz="1700" dirty="0" smtClean="0">
                                    <a:solidFill>
                                      <a:schemeClr val="bg1"/>
                                    </a:solidFill>
                                    <a:latin typeface="나눔스퀘어_ac ExtraBold" panose="020B0600000101010101" pitchFamily="50" charset="-127"/>
                                    <a:ea typeface="나눔스퀘어_ac ExtraBold" panose="020B0600000101010101" pitchFamily="50" charset="-127"/>
                                  </a:rPr>
                                  <m:t>∆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sz="1700" dirty="0" smtClean="0">
                                    <a:solidFill>
                                      <a:schemeClr val="bg1"/>
                                    </a:solidFill>
                                    <a:latin typeface="나눔스퀘어_ac ExtraBold" panose="020B0600000101010101" pitchFamily="50" charset="-127"/>
                                    <a:ea typeface="나눔스퀘어_ac ExtraBold" panose="020B0600000101010101" pitchFamily="50" charset="-127"/>
                                  </a:rPr>
                                  <m:t>t</m:t>
                                </m:r>
                                <m:r>
                                  <a:rPr lang="en-US" altLang="ko-KR" sz="1700" b="0" i="1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나눔스퀘어_ac Bold" panose="020B0600000101010101" pitchFamily="50" charset="-127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altLang="ko-KR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sz="1700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로 예측한 </a:t>
                          </a:r>
                          <a:r>
                            <a:rPr lang="ko-KR" altLang="en-US" sz="1700" b="1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끝점</a:t>
                          </a:r>
                          <a:r>
                            <a:rPr lang="ko-KR" altLang="en-US" sz="1700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에서의 기울기</a:t>
                          </a:r>
                        </a:p>
                      </a:txBody>
                      <a:tcPr marT="60960" marB="6096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747497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232C27F-E06F-81C0-E19B-F27662445F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071300"/>
                  </p:ext>
                </p:extLst>
              </p:nvPr>
            </p:nvGraphicFramePr>
            <p:xfrm>
              <a:off x="2193052" y="3608035"/>
              <a:ext cx="8171699" cy="24901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9020">
                      <a:extLst>
                        <a:ext uri="{9D8B030D-6E8A-4147-A177-3AD203B41FA5}">
                          <a16:colId xmlns:a16="http://schemas.microsoft.com/office/drawing/2014/main" val="2878426661"/>
                        </a:ext>
                      </a:extLst>
                    </a:gridCol>
                    <a:gridCol w="3326296">
                      <a:extLst>
                        <a:ext uri="{9D8B030D-6E8A-4147-A177-3AD203B41FA5}">
                          <a16:colId xmlns:a16="http://schemas.microsoft.com/office/drawing/2014/main" val="1252495260"/>
                        </a:ext>
                      </a:extLst>
                    </a:gridCol>
                    <a:gridCol w="3856383">
                      <a:extLst>
                        <a:ext uri="{9D8B030D-6E8A-4147-A177-3AD203B41FA5}">
                          <a16:colId xmlns:a16="http://schemas.microsoft.com/office/drawing/2014/main" val="482323709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ko-KR" altLang="en-US" sz="1700" b="1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기울기</a:t>
                          </a:r>
                          <a:endParaRPr lang="ko-KR" altLang="en-US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ko-KR" altLang="en-US" sz="1700" b="1" dirty="0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공식</a:t>
                          </a:r>
                          <a:endParaRPr lang="ko-KR" altLang="en-US" sz="1700" dirty="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ko-KR" altLang="en-US" sz="1700" b="1">
                              <a:solidFill>
                                <a:schemeClr val="bg1"/>
                              </a:solidFill>
                              <a:effectLst/>
                              <a:latin typeface="나눔스퀘어_ac Bold" panose="020B0600000101010101" pitchFamily="50" charset="-127"/>
                              <a:ea typeface="나눔스퀘어_ac Bold" panose="020B0600000101010101" pitchFamily="50" charset="-127"/>
                            </a:rPr>
                            <a:t>의미</a:t>
                          </a:r>
                          <a:endParaRPr lang="ko-KR" altLang="en-US" sz="1700">
                            <a:solidFill>
                              <a:schemeClr val="bg1"/>
                            </a:solidFill>
                            <a:effectLst/>
                            <a:latin typeface="나눔스퀘어_ac Bold" panose="020B0600000101010101" pitchFamily="50" charset="-127"/>
                            <a:ea typeface="나눔스퀘어_ac Bold" panose="020B0600000101010101" pitchFamily="50" charset="-127"/>
                          </a:endParaRPr>
                        </a:p>
                      </a:txBody>
                      <a:tcPr marT="60960" marB="6096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5200005"/>
                      </a:ext>
                    </a:extLst>
                  </a:tr>
                  <a:tr h="49504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3"/>
                          <a:stretch>
                            <a:fillRect l="-617" t="-79012" r="-730864" b="-3419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3"/>
                          <a:stretch>
                            <a:fillRect l="-29799" t="-79012" r="-116453" b="-3419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3"/>
                          <a:stretch>
                            <a:fillRect l="-112164" t="-79012" r="-632" b="-3419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0012576"/>
                      </a:ext>
                    </a:extLst>
                  </a:tr>
                  <a:tr h="61207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3"/>
                          <a:stretch>
                            <a:fillRect l="-617" t="-143564" r="-730864" b="-1742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3"/>
                          <a:stretch>
                            <a:fillRect l="-29799" t="-143564" r="-116453" b="-1742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3"/>
                          <a:stretch>
                            <a:fillRect l="-112164" t="-143564" r="-632" b="-1742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63406076"/>
                      </a:ext>
                    </a:extLst>
                  </a:tr>
                  <a:tr h="61207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3"/>
                          <a:stretch>
                            <a:fillRect l="-617" t="-243564" r="-730864" b="-742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3"/>
                          <a:stretch>
                            <a:fillRect l="-29799" t="-243564" r="-116453" b="-742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3"/>
                          <a:stretch>
                            <a:fillRect l="-112164" t="-243564" r="-632" b="-742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7684041"/>
                      </a:ext>
                    </a:extLst>
                  </a:tr>
                  <a:tr h="38995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3"/>
                          <a:stretch>
                            <a:fillRect l="-617" t="-542188" r="-730864" b="-1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3"/>
                          <a:stretch>
                            <a:fillRect l="-29799" t="-542188" r="-116453" b="-1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T="60960" marB="60960" anchor="ctr">
                        <a:blipFill>
                          <a:blip r:embed="rId3"/>
                          <a:stretch>
                            <a:fillRect l="-112164" t="-542188" r="-632" b="-1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47497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44490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CFDF2-6080-D81A-DBCD-E8B6B7EB5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4BE521A9-057F-957A-123F-A4CA852ABB4E}"/>
              </a:ext>
            </a:extLst>
          </p:cNvPr>
          <p:cNvSpPr/>
          <p:nvPr/>
        </p:nvSpPr>
        <p:spPr>
          <a:xfrm>
            <a:off x="136813" y="118479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F060F055-E1EA-9419-2B0A-4B6220D7F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 이론</a:t>
            </a:r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A1991219-F320-23C6-2702-79FA81F51DBB}"/>
              </a:ext>
            </a:extLst>
          </p:cNvPr>
          <p:cNvSpPr txBox="1">
            <a:spLocks/>
          </p:cNvSpPr>
          <p:nvPr/>
        </p:nvSpPr>
        <p:spPr>
          <a:xfrm>
            <a:off x="670604" y="1206144"/>
            <a:ext cx="11216596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미분 방정식 풀이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= ‘RK4’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방법 사용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                                      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왜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2 body problem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에서 사용한 </a:t>
            </a:r>
            <a:r>
              <a:rPr lang="ko-KR" altLang="en-US" sz="16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오일러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sz="16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크로머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방식을 사용하지 않을까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?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6" name="부제목 8">
            <a:extLst>
              <a:ext uri="{FF2B5EF4-FFF2-40B4-BE49-F238E27FC236}">
                <a16:creationId xmlns:a16="http://schemas.microsoft.com/office/drawing/2014/main" id="{A13E7A8F-5C4C-8EC6-7342-33AE7FE4C117}"/>
              </a:ext>
            </a:extLst>
          </p:cNvPr>
          <p:cNvSpPr txBox="1">
            <a:spLocks/>
          </p:cNvSpPr>
          <p:nvPr/>
        </p:nvSpPr>
        <p:spPr>
          <a:xfrm>
            <a:off x="1520686" y="2497696"/>
            <a:ext cx="9150625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오일러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sz="16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크로머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방식 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 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장기적인 안정성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(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오차의 진동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) – 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시뮬레이션 시간이 길었던 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2Body problem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에서 사용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RK4 : 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단기적인 정확성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  – 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짧은 시뮬레이션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, 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정밀한 계산이 필요한 카오스 증명에 적합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" name="부제목 8">
            <a:extLst>
              <a:ext uri="{FF2B5EF4-FFF2-40B4-BE49-F238E27FC236}">
                <a16:creationId xmlns:a16="http://schemas.microsoft.com/office/drawing/2014/main" id="{1927E5F9-86F7-1175-0AB1-F94C49C29234}"/>
              </a:ext>
            </a:extLst>
          </p:cNvPr>
          <p:cNvSpPr txBox="1">
            <a:spLocks/>
          </p:cNvSpPr>
          <p:nvPr/>
        </p:nvSpPr>
        <p:spPr>
          <a:xfrm>
            <a:off x="1499743" y="3582599"/>
            <a:ext cx="9558317" cy="2212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RK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차수가 더 높아지면 정확도는 증가하지만 계산에 드는 비용 증가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  <a:b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RK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차수를 낮추면 빠르지만 정확도는 낮아짐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  <a:p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카오스를 확인하고자 하는 본 발표에서는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RK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방식이 더 적합하다고 판단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정확도와 계산의 효율을 생각하여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RK4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선택</a:t>
            </a:r>
          </a:p>
        </p:txBody>
      </p:sp>
    </p:spTree>
    <p:extLst>
      <p:ext uri="{BB962C8B-B14F-4D97-AF65-F5344CB8AC3E}">
        <p14:creationId xmlns:p14="http://schemas.microsoft.com/office/powerpoint/2010/main" val="66751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EAF56-D16D-16BE-C96E-FED5A228C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C364D9FB-8F15-C3C9-F894-30C402087979}"/>
              </a:ext>
            </a:extLst>
          </p:cNvPr>
          <p:cNvSpPr/>
          <p:nvPr/>
        </p:nvSpPr>
        <p:spPr>
          <a:xfrm>
            <a:off x="136813" y="118479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F8272E12-51AC-8BA5-DB7A-285ACF342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 이론</a:t>
            </a:r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6E3D6C8C-42E0-FC82-62A3-8E017696C2E8}"/>
              </a:ext>
            </a:extLst>
          </p:cNvPr>
          <p:cNvSpPr txBox="1">
            <a:spLocks/>
          </p:cNvSpPr>
          <p:nvPr/>
        </p:nvSpPr>
        <p:spPr>
          <a:xfrm>
            <a:off x="670604" y="1206144"/>
            <a:ext cx="11216596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Figure 8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궤도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6" name="부제목 8">
            <a:extLst>
              <a:ext uri="{FF2B5EF4-FFF2-40B4-BE49-F238E27FC236}">
                <a16:creationId xmlns:a16="http://schemas.microsoft.com/office/drawing/2014/main" id="{DFA95F22-CC2B-48C3-9C2D-78D39457EB18}"/>
              </a:ext>
            </a:extLst>
          </p:cNvPr>
          <p:cNvSpPr txBox="1">
            <a:spLocks/>
          </p:cNvSpPr>
          <p:nvPr/>
        </p:nvSpPr>
        <p:spPr>
          <a:xfrm>
            <a:off x="5465780" y="1704685"/>
            <a:ext cx="7036784" cy="3615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</a:t>
            </a:r>
            <a:r>
              <a:rPr lang="ko-KR" altLang="en-US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body</a:t>
            </a:r>
            <a:r>
              <a:rPr lang="ko-KR" altLang="en-US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problem</a:t>
            </a:r>
            <a:r>
              <a:rPr lang="ko-KR" altLang="en-US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의 특수해</a:t>
            </a:r>
            <a:endParaRPr lang="en-US" altLang="ko-KR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Figure 8 </a:t>
            </a:r>
          </a:p>
          <a:p>
            <a:endParaRPr lang="en-US" altLang="ko-KR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질량이 같은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개의 물체가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8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자 모양의 경로로 순환하는 궤도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특정 초기 조건하에서는 삼체 시스템이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예측 가능한 주기 해를 가진다는 것을 알 수 있음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-&gt;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아주 작은 오차만으로 카오스 현상을 확인해볼 수 있음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2" name="온라인 미디어 1" title="【Processing】Three body problem figure eight solution">
            <a:hlinkClick r:id="" action="ppaction://media"/>
            <a:extLst>
              <a:ext uri="{FF2B5EF4-FFF2-40B4-BE49-F238E27FC236}">
                <a16:creationId xmlns:a16="http://schemas.microsoft.com/office/drawing/2014/main" id="{33A76328-01B4-1FF7-A78A-0083A62AEE4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911831" y="2017230"/>
            <a:ext cx="5001326" cy="282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109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2946E-464C-E587-3DA3-81C861ADE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2B13A2DF-DCE3-6786-4432-AB3F14A94326}"/>
              </a:ext>
            </a:extLst>
          </p:cNvPr>
          <p:cNvSpPr/>
          <p:nvPr/>
        </p:nvSpPr>
        <p:spPr>
          <a:xfrm>
            <a:off x="136813" y="118479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633D1D60-D886-7044-F1B8-3E423F05E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코드 설명</a:t>
            </a:r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96CE196F-EEE6-AAFB-8E51-9097366B6E05}"/>
              </a:ext>
            </a:extLst>
          </p:cNvPr>
          <p:cNvSpPr txBox="1">
            <a:spLocks/>
          </p:cNvSpPr>
          <p:nvPr/>
        </p:nvSpPr>
        <p:spPr>
          <a:xfrm>
            <a:off x="945987" y="1067921"/>
            <a:ext cx="2816875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0.</a:t>
            </a:r>
          </a:p>
          <a:p>
            <a:pPr algn="l"/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중력 상수와 질량 설정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질량이 동일한 세 물체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부제목 8">
                <a:extLst>
                  <a:ext uri="{FF2B5EF4-FFF2-40B4-BE49-F238E27FC236}">
                    <a16:creationId xmlns:a16="http://schemas.microsoft.com/office/drawing/2014/main" id="{1841676B-4CF1-5F65-5B19-B4ECC1F7EF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56065" y="4434253"/>
                <a:ext cx="5590920" cy="13598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1700" dirty="0">
                    <a:solidFill>
                      <a:schemeClr val="bg1"/>
                    </a:solidFill>
                  </a:rPr>
                  <a:t>무</a:t>
                </a:r>
                <a14:m>
                  <m:oMath xmlns:m="http://schemas.openxmlformats.org/officeDocument/2006/math">
                    <m:r>
                      <a:rPr lang="ko-KR" altLang="en-US" sz="17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차</m:t>
                    </m:r>
                    <m:r>
                      <a:rPr lang="ko-KR" altLang="en-US" sz="17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원</m:t>
                    </m:r>
                    <m:r>
                      <a:rPr lang="en-US" altLang="ko-KR" sz="17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7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ko-KR" sz="17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7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ko-KR" sz="17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∗ </m:t>
                    </m:r>
                    <m:f>
                      <m:fPr>
                        <m:ctrlPr>
                          <a:rPr lang="en-US" altLang="ko-KR" sz="17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7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7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7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unit</m:t>
                            </m:r>
                          </m:sub>
                        </m:sSub>
                        <m:r>
                          <a:rPr lang="en-US" altLang="ko-KR" sz="17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sSubSup>
                          <m:sSubSupPr>
                            <m:ctrlPr>
                              <a:rPr lang="en-US" altLang="ko-KR" sz="17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ko-KR" sz="17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altLang="ko-KR" sz="17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𝑢𝑛𝑖𝑡</m:t>
                            </m:r>
                          </m:sub>
                          <m:sup>
                            <m:r>
                              <a:rPr lang="en-US" altLang="ko-KR" sz="17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altLang="ko-KR" sz="17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7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ko-KR" sz="17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𝑛𝑖𝑡</m:t>
                            </m:r>
                          </m:sub>
                          <m:sup>
                            <m:r>
                              <a:rPr lang="en-US" altLang="ko-KR" sz="17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altLang="ko-KR" sz="1700" dirty="0">
                    <a:solidFill>
                      <a:schemeClr val="bg1"/>
                    </a:solidFill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=1</a:t>
                </a:r>
              </a:p>
            </p:txBody>
          </p:sp>
        </mc:Choice>
        <mc:Fallback xmlns="">
          <p:sp>
            <p:nvSpPr>
              <p:cNvPr id="17" name="부제목 8">
                <a:extLst>
                  <a:ext uri="{FF2B5EF4-FFF2-40B4-BE49-F238E27FC236}">
                    <a16:creationId xmlns:a16="http://schemas.microsoft.com/office/drawing/2014/main" id="{1841676B-4CF1-5F65-5B19-B4ECC1F7E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065" y="4434253"/>
                <a:ext cx="5590920" cy="13598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D9F08A5D-E7CA-60A5-4EAE-6FB13E768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36" y="1067921"/>
            <a:ext cx="4743450" cy="2733675"/>
          </a:xfrm>
          <a:prstGeom prst="rect">
            <a:avLst/>
          </a:prstGeom>
        </p:spPr>
      </p:pic>
      <p:sp>
        <p:nvSpPr>
          <p:cNvPr id="4" name="부제목 8">
            <a:extLst>
              <a:ext uri="{FF2B5EF4-FFF2-40B4-BE49-F238E27FC236}">
                <a16:creationId xmlns:a16="http://schemas.microsoft.com/office/drawing/2014/main" id="{0A066C08-17AA-D55D-A791-39AFB7837BEA}"/>
              </a:ext>
            </a:extLst>
          </p:cNvPr>
          <p:cNvSpPr txBox="1">
            <a:spLocks/>
          </p:cNvSpPr>
          <p:nvPr/>
        </p:nvSpPr>
        <p:spPr>
          <a:xfrm>
            <a:off x="1775793" y="4140354"/>
            <a:ext cx="9011478" cy="1947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무차원화</a:t>
            </a:r>
            <a:r>
              <a:rPr lang="en-US" altLang="ko-KR" sz="18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sz="18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이용</a:t>
            </a:r>
            <a:endParaRPr lang="en-US" altLang="ko-KR" sz="1800" b="1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-&gt; 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실제 수치를 사용하여 계산하는 것은 효율적이지 않음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  <a:p>
            <a:pPr algn="l"/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  So, 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새로운 단위계 설정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                                                                                    =&gt; 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본 시뮬레이션에서는 중력상수를 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로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설정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 </a:t>
            </a:r>
          </a:p>
        </p:txBody>
      </p:sp>
      <p:sp>
        <p:nvSpPr>
          <p:cNvPr id="5" name="부제목 8">
            <a:extLst>
              <a:ext uri="{FF2B5EF4-FFF2-40B4-BE49-F238E27FC236}">
                <a16:creationId xmlns:a16="http://schemas.microsoft.com/office/drawing/2014/main" id="{938D0622-4F7C-5360-8316-FBF4AA2D9246}"/>
              </a:ext>
            </a:extLst>
          </p:cNvPr>
          <p:cNvSpPr txBox="1">
            <a:spLocks/>
          </p:cNvSpPr>
          <p:nvPr/>
        </p:nvSpPr>
        <p:spPr>
          <a:xfrm>
            <a:off x="7136570" y="2871384"/>
            <a:ext cx="3650701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14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질량이 같은 세 물체이므로</a:t>
            </a:r>
            <a:endParaRPr lang="en-US" altLang="ko-KR" sz="14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단위 질량 </a:t>
            </a:r>
            <a:r>
              <a:rPr lang="en-US" altLang="ko-KR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</a:t>
            </a:r>
            <a:r>
              <a:rPr lang="ko-KR" altLang="en-US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로 통일 </a:t>
            </a:r>
            <a:endParaRPr lang="en-US" altLang="ko-KR" sz="14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3D15E1-872C-A4F0-82D4-7CCFF14E475C}"/>
                  </a:ext>
                </a:extLst>
              </p:cNvPr>
              <p:cNvSpPr txBox="1"/>
              <p:nvPr/>
            </p:nvSpPr>
            <p:spPr>
              <a:xfrm>
                <a:off x="2436941" y="5374843"/>
                <a:ext cx="4375812" cy="5707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ko-KR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=6.6743 ∗</m:t>
                      </m:r>
                      <m:sSup>
                        <m:sSupPr>
                          <m:ctrlP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−11</m:t>
                          </m:r>
                        </m:sup>
                      </m:sSup>
                      <m:f>
                        <m:fPr>
                          <m:ctrlPr>
                            <a:rPr lang="en-US" altLang="ko-KR" sz="17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7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7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p>
                              <m:r>
                                <a:rPr lang="en-US" altLang="ko-KR" sz="17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altLang="ko-KR" sz="17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kg</m:t>
                          </m:r>
                          <m:r>
                            <a:rPr lang="en-US" altLang="ko-KR" sz="17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altLang="ko-KR" sz="17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7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p>
                              <m:r>
                                <a:rPr lang="en-US" altLang="ko-KR" sz="17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sz="17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3D15E1-872C-A4F0-82D4-7CCFF14E4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941" y="5374843"/>
                <a:ext cx="4375812" cy="5707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8735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96E7B-5CEB-03D4-DBD2-F8FB2F7AF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DF804F4A-F51C-F3A5-AD05-92CFAE0F976A}"/>
              </a:ext>
            </a:extLst>
          </p:cNvPr>
          <p:cNvSpPr/>
          <p:nvPr/>
        </p:nvSpPr>
        <p:spPr>
          <a:xfrm>
            <a:off x="136813" y="118479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CF17E2D7-BA66-FBCC-63D2-E7F746D490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코드 설명</a:t>
            </a:r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0970E349-20AC-FCAA-CCCE-AF67B594B643}"/>
              </a:ext>
            </a:extLst>
          </p:cNvPr>
          <p:cNvSpPr txBox="1">
            <a:spLocks/>
          </p:cNvSpPr>
          <p:nvPr/>
        </p:nvSpPr>
        <p:spPr>
          <a:xfrm>
            <a:off x="945987" y="1067921"/>
            <a:ext cx="2816875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A.</a:t>
            </a:r>
          </a:p>
          <a:p>
            <a:pPr algn="l"/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미분 방정식 정의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805B106-5861-FA9F-11B9-83410B605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862" y="1142338"/>
            <a:ext cx="6876605" cy="41869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2C0444-60C1-BCC2-FAD6-B42E0B25168F}"/>
                  </a:ext>
                </a:extLst>
              </p:cNvPr>
              <p:cNvSpPr txBox="1"/>
              <p:nvPr/>
            </p:nvSpPr>
            <p:spPr>
              <a:xfrm>
                <a:off x="675862" y="1813623"/>
                <a:ext cx="2239617" cy="5013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</m:t>
                      </m:r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ko-KR" sz="1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</m:t>
                      </m:r>
                      <m:r>
                        <a:rPr lang="en-US" altLang="ko-KR" sz="1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ko-K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𝑑𝑤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ko-KR" alt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2C0444-60C1-BCC2-FAD6-B42E0B251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62" y="1813623"/>
                <a:ext cx="2239617" cy="501356"/>
              </a:xfrm>
              <a:prstGeom prst="rect">
                <a:avLst/>
              </a:prstGeom>
              <a:blipFill>
                <a:blip r:embed="rId3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부제목 8">
            <a:extLst>
              <a:ext uri="{FF2B5EF4-FFF2-40B4-BE49-F238E27FC236}">
                <a16:creationId xmlns:a16="http://schemas.microsoft.com/office/drawing/2014/main" id="{F6A88E8C-3D1F-BBEE-4AA5-F60E4C2094E8}"/>
              </a:ext>
            </a:extLst>
          </p:cNvPr>
          <p:cNvSpPr txBox="1">
            <a:spLocks/>
          </p:cNvSpPr>
          <p:nvPr/>
        </p:nvSpPr>
        <p:spPr>
          <a:xfrm>
            <a:off x="6261926" y="2950897"/>
            <a:ext cx="3650701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두 물체 사이 거리 계산</a:t>
            </a:r>
            <a:endParaRPr lang="en-US" altLang="ko-KR" sz="14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벡터 크기 계산</a:t>
            </a:r>
            <a:r>
              <a:rPr lang="en-US" altLang="ko-KR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92653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9D0CA-3B47-E20B-EAAB-4B6B531A0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4A397283-00FA-AC33-42E4-A8347436E7E7}"/>
              </a:ext>
            </a:extLst>
          </p:cNvPr>
          <p:cNvSpPr/>
          <p:nvPr/>
        </p:nvSpPr>
        <p:spPr>
          <a:xfrm>
            <a:off x="136813" y="118479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0632DABB-37D8-D4EA-5F9E-5FB5DD2FC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코드 설명</a:t>
            </a:r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D2581C1B-E0CB-8661-C0E4-D7F0906804EE}"/>
              </a:ext>
            </a:extLst>
          </p:cNvPr>
          <p:cNvSpPr txBox="1">
            <a:spLocks/>
          </p:cNvSpPr>
          <p:nvPr/>
        </p:nvSpPr>
        <p:spPr>
          <a:xfrm>
            <a:off x="945987" y="1067921"/>
            <a:ext cx="2816875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B.</a:t>
            </a:r>
          </a:p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RK4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함수 정의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860CB30-9B19-963B-93FF-DEF274FF4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035" y="1094254"/>
            <a:ext cx="6143625" cy="4695825"/>
          </a:xfrm>
          <a:prstGeom prst="rect">
            <a:avLst/>
          </a:prstGeom>
        </p:spPr>
      </p:pic>
      <p:sp>
        <p:nvSpPr>
          <p:cNvPr id="21" name="부제목 8">
            <a:extLst>
              <a:ext uri="{FF2B5EF4-FFF2-40B4-BE49-F238E27FC236}">
                <a16:creationId xmlns:a16="http://schemas.microsoft.com/office/drawing/2014/main" id="{0A55E57E-6B58-6616-948B-DCF1B861B7BB}"/>
              </a:ext>
            </a:extLst>
          </p:cNvPr>
          <p:cNvSpPr txBox="1">
            <a:spLocks/>
          </p:cNvSpPr>
          <p:nvPr/>
        </p:nvSpPr>
        <p:spPr>
          <a:xfrm>
            <a:off x="985653" y="2043696"/>
            <a:ext cx="3586383" cy="12184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4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func</a:t>
            </a:r>
            <a:r>
              <a:rPr lang="en-US" altLang="ko-KR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 </a:t>
            </a:r>
            <a:r>
              <a:rPr lang="ko-KR" altLang="en-US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미분 방정식 함수 </a:t>
            </a:r>
            <a:r>
              <a:rPr lang="en-US" altLang="ko-KR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(f(t, w))</a:t>
            </a:r>
          </a:p>
          <a:p>
            <a:pPr algn="l"/>
            <a:r>
              <a:rPr lang="en-US" altLang="ko-KR" sz="14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w_n</a:t>
            </a:r>
            <a:r>
              <a:rPr lang="en-US" altLang="ko-KR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 </a:t>
            </a:r>
            <a:r>
              <a:rPr lang="ko-KR" altLang="en-US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현재 상태 벡터</a:t>
            </a:r>
            <a:endParaRPr lang="en-US" altLang="ko-KR" sz="14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en-US" altLang="ko-KR" sz="14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t_n</a:t>
            </a:r>
            <a:r>
              <a:rPr lang="en-US" altLang="ko-KR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 </a:t>
            </a:r>
            <a:r>
              <a:rPr lang="ko-KR" altLang="en-US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현재 시간</a:t>
            </a:r>
            <a:endParaRPr lang="en-US" altLang="ko-KR" sz="14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en-US" altLang="ko-KR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dt: </a:t>
            </a:r>
            <a:r>
              <a:rPr lang="ko-KR" altLang="en-US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시간 스텝</a:t>
            </a:r>
            <a:endParaRPr lang="en-US" altLang="ko-KR" sz="14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9949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56EC5-5748-FE90-4C58-371609E2A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C6A27518-CE26-22E1-8133-2A8C75E15031}"/>
              </a:ext>
            </a:extLst>
          </p:cNvPr>
          <p:cNvSpPr/>
          <p:nvPr/>
        </p:nvSpPr>
        <p:spPr>
          <a:xfrm>
            <a:off x="136813" y="118479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BCAC215D-CC52-295D-2B21-D927EC083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코드 설명</a:t>
            </a:r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F00C8D80-D8B6-AFC6-8611-645957D50256}"/>
              </a:ext>
            </a:extLst>
          </p:cNvPr>
          <p:cNvSpPr txBox="1">
            <a:spLocks/>
          </p:cNvSpPr>
          <p:nvPr/>
        </p:nvSpPr>
        <p:spPr>
          <a:xfrm>
            <a:off x="945987" y="1067921"/>
            <a:ext cx="2816875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C.</a:t>
            </a:r>
          </a:p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Figure-8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에 해당하는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초기 조건 설정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3FD57C7-8197-16A6-5275-E95E25540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013" y="1239035"/>
            <a:ext cx="6523288" cy="1559529"/>
          </a:xfrm>
          <a:prstGeom prst="rect">
            <a:avLst/>
          </a:prstGeom>
        </p:spPr>
      </p:pic>
      <p:sp>
        <p:nvSpPr>
          <p:cNvPr id="14" name="부제목 8">
            <a:extLst>
              <a:ext uri="{FF2B5EF4-FFF2-40B4-BE49-F238E27FC236}">
                <a16:creationId xmlns:a16="http://schemas.microsoft.com/office/drawing/2014/main" id="{02C51801-AD9B-CC47-B5BA-1B56E488B75E}"/>
              </a:ext>
            </a:extLst>
          </p:cNvPr>
          <p:cNvSpPr txBox="1">
            <a:spLocks/>
          </p:cNvSpPr>
          <p:nvPr/>
        </p:nvSpPr>
        <p:spPr>
          <a:xfrm>
            <a:off x="918776" y="3887118"/>
            <a:ext cx="3650701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Chenciner</a:t>
            </a:r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, A., &amp; Montgomery, R. (2000). </a:t>
            </a:r>
          </a:p>
          <a:p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A remarkable periodic solution of the three-body problem in the case of equal masses.</a:t>
            </a:r>
          </a:p>
          <a:p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Annals of Mathematics, 152(3), 881–901.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5DA38B7-80E1-58DB-E05D-25A908856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484" y="3126656"/>
            <a:ext cx="5074345" cy="280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978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E8712-64A1-18B6-CB67-B55585AE0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82BF43B2-6B40-AFA4-1BE1-AE1ED9249C67}"/>
              </a:ext>
            </a:extLst>
          </p:cNvPr>
          <p:cNvSpPr/>
          <p:nvPr/>
        </p:nvSpPr>
        <p:spPr>
          <a:xfrm>
            <a:off x="136813" y="135082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크기</a:t>
            </a:r>
            <a:r>
              <a:rPr lang="en-US" altLang="ko-KR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계산</a:t>
            </a:r>
            <a:endParaRPr lang="ko-KR" altLang="en-US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2AE128E5-231E-BF63-9DA3-CF9001DA1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코드 설명</a:t>
            </a:r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48AA174D-ACD8-D048-9F47-522694C1D78B}"/>
              </a:ext>
            </a:extLst>
          </p:cNvPr>
          <p:cNvSpPr txBox="1">
            <a:spLocks/>
          </p:cNvSpPr>
          <p:nvPr/>
        </p:nvSpPr>
        <p:spPr>
          <a:xfrm>
            <a:off x="945987" y="1067921"/>
            <a:ext cx="2816875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D.</a:t>
            </a:r>
          </a:p>
          <a:p>
            <a:pPr algn="l"/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시뮬레이션 설정 및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카오스 초기 조건 설정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0D3F6A-0F28-8397-926A-D3FA86A1F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769" y="1067921"/>
            <a:ext cx="6581775" cy="4171950"/>
          </a:xfrm>
          <a:prstGeom prst="rect">
            <a:avLst/>
          </a:prstGeom>
        </p:spPr>
      </p:pic>
      <p:sp>
        <p:nvSpPr>
          <p:cNvPr id="12" name="부제목 8">
            <a:extLst>
              <a:ext uri="{FF2B5EF4-FFF2-40B4-BE49-F238E27FC236}">
                <a16:creationId xmlns:a16="http://schemas.microsoft.com/office/drawing/2014/main" id="{D836E3E7-745A-6638-31EA-04C066918DC6}"/>
              </a:ext>
            </a:extLst>
          </p:cNvPr>
          <p:cNvSpPr txBox="1">
            <a:spLocks/>
          </p:cNvSpPr>
          <p:nvPr/>
        </p:nvSpPr>
        <p:spPr>
          <a:xfrm>
            <a:off x="7722482" y="1226947"/>
            <a:ext cx="3586383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총 시간</a:t>
            </a:r>
            <a:endParaRPr lang="en-US" altLang="ko-KR" sz="1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ko-KR" altLang="en-US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총 스텝 수</a:t>
            </a:r>
            <a:endParaRPr lang="en-US" altLang="ko-KR" sz="1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         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5092A88-76FA-89E0-C7CA-4F3BF6D5DE0F}"/>
                  </a:ext>
                </a:extLst>
              </p:cNvPr>
              <p:cNvSpPr txBox="1"/>
              <p:nvPr/>
            </p:nvSpPr>
            <p:spPr>
              <a:xfrm>
                <a:off x="5645426" y="1912324"/>
                <a:ext cx="6096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ko-KR" altLang="en-US" sz="1400" dirty="0" smtClean="0">
                          <a:solidFill>
                            <a:schemeClr val="bg1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m:t>∆</m:t>
                      </m:r>
                      <m:r>
                        <m:rPr>
                          <m:nor/>
                        </m:rPr>
                        <a:rPr lang="en-US" altLang="ko-KR" sz="1400" dirty="0" smtClean="0">
                          <a:solidFill>
                            <a:schemeClr val="bg1"/>
                          </a:solidFill>
                          <a:latin typeface="나눔스퀘어_ac ExtraBold" panose="020B0600000101010101" pitchFamily="50" charset="-127"/>
                          <a:ea typeface="나눔스퀘어_ac ExtraBold" panose="020B0600000101010101" pitchFamily="50" charset="-127"/>
                        </a:rPr>
                        <m:t>t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5092A88-76FA-89E0-C7CA-4F3BF6D5D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426" y="1912324"/>
                <a:ext cx="609600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3BDE0BCD-B5BD-AEE4-C46A-513FEE6BE6E2}"/>
              </a:ext>
            </a:extLst>
          </p:cNvPr>
          <p:cNvSpPr txBox="1"/>
          <p:nvPr/>
        </p:nvSpPr>
        <p:spPr>
          <a:xfrm>
            <a:off x="8850306" y="193882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크기</a:t>
            </a:r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계산</a:t>
            </a:r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endParaRPr lang="ko-KR" altLang="en-US" sz="1200" dirty="0"/>
          </a:p>
        </p:txBody>
      </p:sp>
      <p:sp>
        <p:nvSpPr>
          <p:cNvPr id="23" name="부제목 8">
            <a:extLst>
              <a:ext uri="{FF2B5EF4-FFF2-40B4-BE49-F238E27FC236}">
                <a16:creationId xmlns:a16="http://schemas.microsoft.com/office/drawing/2014/main" id="{56CAC559-BA88-320E-6FB2-783895510E6B}"/>
              </a:ext>
            </a:extLst>
          </p:cNvPr>
          <p:cNvSpPr txBox="1">
            <a:spLocks/>
          </p:cNvSpPr>
          <p:nvPr/>
        </p:nvSpPr>
        <p:spPr>
          <a:xfrm>
            <a:off x="5645426" y="3550504"/>
            <a:ext cx="3586383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섭동 값 임의 지정</a:t>
            </a:r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 </a:t>
            </a:r>
            <a:r>
              <a:rPr lang="ko-KR" altLang="en-US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카오스 현상을 확인하기 위한 용도</a:t>
            </a:r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                </a:t>
            </a:r>
          </a:p>
        </p:txBody>
      </p:sp>
      <p:sp>
        <p:nvSpPr>
          <p:cNvPr id="24" name="부제목 8">
            <a:extLst>
              <a:ext uri="{FF2B5EF4-FFF2-40B4-BE49-F238E27FC236}">
                <a16:creationId xmlns:a16="http://schemas.microsoft.com/office/drawing/2014/main" id="{46EB5455-C88F-EA90-DFD3-FF1AA11FF16F}"/>
              </a:ext>
            </a:extLst>
          </p:cNvPr>
          <p:cNvSpPr txBox="1">
            <a:spLocks/>
          </p:cNvSpPr>
          <p:nvPr/>
        </p:nvSpPr>
        <p:spPr>
          <a:xfrm>
            <a:off x="8850306" y="3762538"/>
            <a:ext cx="2483113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안정 궤도 초기 조건에서 시작</a:t>
            </a:r>
            <a:endParaRPr lang="en-US" altLang="ko-KR" sz="1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5" name="부제목 8">
            <a:extLst>
              <a:ext uri="{FF2B5EF4-FFF2-40B4-BE49-F238E27FC236}">
                <a16:creationId xmlns:a16="http://schemas.microsoft.com/office/drawing/2014/main" id="{D9882F33-3D5C-CF77-FB8C-B26F07C911EF}"/>
              </a:ext>
            </a:extLst>
          </p:cNvPr>
          <p:cNvSpPr txBox="1">
            <a:spLocks/>
          </p:cNvSpPr>
          <p:nvPr/>
        </p:nvSpPr>
        <p:spPr>
          <a:xfrm>
            <a:off x="7194068" y="4234801"/>
            <a:ext cx="3911254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카오스 초기 조건에서 물체</a:t>
            </a:r>
            <a:r>
              <a:rPr lang="en-US" altLang="ko-KR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</a:t>
            </a:r>
            <a:r>
              <a:rPr lang="ko-KR" altLang="en-US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의 </a:t>
            </a:r>
            <a:r>
              <a:rPr lang="en-US" altLang="ko-KR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x </a:t>
            </a:r>
            <a:r>
              <a:rPr lang="ko-KR" altLang="en-US" sz="14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위치에 섭동 생성 </a:t>
            </a:r>
            <a:endParaRPr lang="en-US" altLang="ko-KR" sz="14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6089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52C15-881F-4564-C79E-9ABA5C313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D353BB85-E78A-FFAF-35B0-6D21EDABAC8B}"/>
              </a:ext>
            </a:extLst>
          </p:cNvPr>
          <p:cNvSpPr/>
          <p:nvPr/>
        </p:nvSpPr>
        <p:spPr>
          <a:xfrm>
            <a:off x="136813" y="135082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E93BC307-8188-750F-ECCC-FD92CB7F6E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코드 설명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E742505-BDA3-0F77-5F9F-1D6E020F3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059" y="1308558"/>
            <a:ext cx="6581775" cy="3804545"/>
          </a:xfrm>
          <a:prstGeom prst="rect">
            <a:avLst/>
          </a:prstGeom>
        </p:spPr>
      </p:pic>
      <p:sp>
        <p:nvSpPr>
          <p:cNvPr id="13" name="부제목 8">
            <a:extLst>
              <a:ext uri="{FF2B5EF4-FFF2-40B4-BE49-F238E27FC236}">
                <a16:creationId xmlns:a16="http://schemas.microsoft.com/office/drawing/2014/main" id="{76B3D336-6A15-80AF-DCDE-415A8734209C}"/>
              </a:ext>
            </a:extLst>
          </p:cNvPr>
          <p:cNvSpPr txBox="1">
            <a:spLocks/>
          </p:cNvSpPr>
          <p:nvPr/>
        </p:nvSpPr>
        <p:spPr>
          <a:xfrm>
            <a:off x="945987" y="1067921"/>
            <a:ext cx="2816875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D.</a:t>
            </a:r>
          </a:p>
          <a:p>
            <a:pPr algn="l"/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시뮬레이션 설정 및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카오스 초기 조건 설정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3793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DAAC8-05EA-81CC-FC1A-7C37593A1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E34F0151-F9D9-1FCC-070E-77766C2ACD63}"/>
              </a:ext>
            </a:extLst>
          </p:cNvPr>
          <p:cNvSpPr/>
          <p:nvPr/>
        </p:nvSpPr>
        <p:spPr>
          <a:xfrm>
            <a:off x="136813" y="135082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2376717C-6072-3BDD-ED1D-0ED4E05B6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코드 설명</a:t>
            </a:r>
          </a:p>
        </p:txBody>
      </p:sp>
      <p:sp>
        <p:nvSpPr>
          <p:cNvPr id="12" name="부제목 8">
            <a:extLst>
              <a:ext uri="{FF2B5EF4-FFF2-40B4-BE49-F238E27FC236}">
                <a16:creationId xmlns:a16="http://schemas.microsoft.com/office/drawing/2014/main" id="{0B9F93B1-0B48-6A47-427C-C17FBA80529A}"/>
              </a:ext>
            </a:extLst>
          </p:cNvPr>
          <p:cNvSpPr txBox="1">
            <a:spLocks/>
          </p:cNvSpPr>
          <p:nvPr/>
        </p:nvSpPr>
        <p:spPr>
          <a:xfrm>
            <a:off x="945987" y="1067921"/>
            <a:ext cx="2816875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D.</a:t>
            </a:r>
          </a:p>
          <a:p>
            <a:pPr algn="l"/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시뮬레이션 설정 및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루프 실행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9348D18-2F65-ECB6-1FEE-3D182CD8FF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553" b="50000"/>
          <a:stretch>
            <a:fillRect/>
          </a:stretch>
        </p:blipFill>
        <p:spPr>
          <a:xfrm>
            <a:off x="3492051" y="595832"/>
            <a:ext cx="6790980" cy="26874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A61CE52-7A90-4CE5-6D84-B1D000A669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097"/>
          <a:stretch>
            <a:fillRect/>
          </a:stretch>
        </p:blipFill>
        <p:spPr>
          <a:xfrm>
            <a:off x="3492051" y="3574717"/>
            <a:ext cx="8153988" cy="2687451"/>
          </a:xfrm>
          <a:prstGeom prst="rect">
            <a:avLst/>
          </a:prstGeom>
        </p:spPr>
      </p:pic>
      <p:sp>
        <p:nvSpPr>
          <p:cNvPr id="7" name="부제목 8">
            <a:extLst>
              <a:ext uri="{FF2B5EF4-FFF2-40B4-BE49-F238E27FC236}">
                <a16:creationId xmlns:a16="http://schemas.microsoft.com/office/drawing/2014/main" id="{E2C2A780-6173-9640-1638-2CEA309FB83F}"/>
              </a:ext>
            </a:extLst>
          </p:cNvPr>
          <p:cNvSpPr txBox="1">
            <a:spLocks/>
          </p:cNvSpPr>
          <p:nvPr/>
        </p:nvSpPr>
        <p:spPr>
          <a:xfrm>
            <a:off x="6635948" y="1601340"/>
            <a:ext cx="3586383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20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위치만 추출</a:t>
            </a:r>
            <a:r>
              <a:rPr lang="en-US" altLang="ko-KR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                </a:t>
            </a:r>
          </a:p>
        </p:txBody>
      </p:sp>
      <p:sp>
        <p:nvSpPr>
          <p:cNvPr id="8" name="부제목 8">
            <a:extLst>
              <a:ext uri="{FF2B5EF4-FFF2-40B4-BE49-F238E27FC236}">
                <a16:creationId xmlns:a16="http://schemas.microsoft.com/office/drawing/2014/main" id="{6470F129-30E7-98B2-EC11-EE3055B3EB63}"/>
              </a:ext>
            </a:extLst>
          </p:cNvPr>
          <p:cNvSpPr txBox="1">
            <a:spLocks/>
          </p:cNvSpPr>
          <p:nvPr/>
        </p:nvSpPr>
        <p:spPr>
          <a:xfrm>
            <a:off x="9766853" y="2064842"/>
            <a:ext cx="2017520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각 좌표를 실선으로 나타냄</a:t>
            </a:r>
            <a:endParaRPr lang="en-US" altLang="ko-KR" sz="12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2573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8445E-66E1-A759-149E-233269B7A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910632AB-5ED6-A80B-9B69-D9BF31CFDF6C}"/>
              </a:ext>
            </a:extLst>
          </p:cNvPr>
          <p:cNvSpPr/>
          <p:nvPr/>
        </p:nvSpPr>
        <p:spPr>
          <a:xfrm>
            <a:off x="136813" y="135082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346D8179-55B3-F601-93DE-99968E2950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코드 결과</a:t>
            </a:r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E9F0949C-E9BF-27B7-EFAB-7819897C7185}"/>
              </a:ext>
            </a:extLst>
          </p:cNvPr>
          <p:cNvSpPr txBox="1">
            <a:spLocks/>
          </p:cNvSpPr>
          <p:nvPr/>
        </p:nvSpPr>
        <p:spPr>
          <a:xfrm>
            <a:off x="945987" y="1067921"/>
            <a:ext cx="2816875" cy="1218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-&gt;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코드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파일 실행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4" name="부제목 8">
            <a:extLst>
              <a:ext uri="{FF2B5EF4-FFF2-40B4-BE49-F238E27FC236}">
                <a16:creationId xmlns:a16="http://schemas.microsoft.com/office/drawing/2014/main" id="{E82824BA-AA25-A805-E53E-3DB32D3AE43F}"/>
              </a:ext>
            </a:extLst>
          </p:cNvPr>
          <p:cNvSpPr txBox="1">
            <a:spLocks/>
          </p:cNvSpPr>
          <p:nvPr/>
        </p:nvSpPr>
        <p:spPr>
          <a:xfrm>
            <a:off x="2416377" y="4466796"/>
            <a:ext cx="4664764" cy="2034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sz="17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초기 섭동 없이 안정적 주기 해</a:t>
            </a:r>
            <a:endParaRPr lang="en-US" altLang="ko-KR" sz="1700" b="1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세 물체가 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8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자 궤적을 그리며 반복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하나의 선으로 보임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= 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삼체 문제도 특정 조건 하에서는 예측 가능하기도 함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A3DD2CA-0272-B7BA-561F-B4C87C14E6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369"/>
          <a:stretch>
            <a:fillRect/>
          </a:stretch>
        </p:blipFill>
        <p:spPr>
          <a:xfrm>
            <a:off x="3024083" y="842633"/>
            <a:ext cx="3449352" cy="340208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1DAB759-A10B-1365-61E7-900F8A7FA4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672"/>
          <a:stretch>
            <a:fillRect/>
          </a:stretch>
        </p:blipFill>
        <p:spPr>
          <a:xfrm>
            <a:off x="7765774" y="842633"/>
            <a:ext cx="3295498" cy="3402087"/>
          </a:xfrm>
          <a:prstGeom prst="rect">
            <a:avLst/>
          </a:prstGeom>
        </p:spPr>
      </p:pic>
      <p:sp>
        <p:nvSpPr>
          <p:cNvPr id="5" name="부제목 8">
            <a:extLst>
              <a:ext uri="{FF2B5EF4-FFF2-40B4-BE49-F238E27FC236}">
                <a16:creationId xmlns:a16="http://schemas.microsoft.com/office/drawing/2014/main" id="{A13D63D0-1B45-FFE3-8561-8570B8C508F8}"/>
              </a:ext>
            </a:extLst>
          </p:cNvPr>
          <p:cNvSpPr txBox="1">
            <a:spLocks/>
          </p:cNvSpPr>
          <p:nvPr/>
        </p:nvSpPr>
        <p:spPr>
          <a:xfrm>
            <a:off x="7235781" y="4466795"/>
            <a:ext cx="4664764" cy="2034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sz="17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안정 궤도에 작은 섭동을 준 결과</a:t>
            </a:r>
            <a:endParaRPr lang="en-US" altLang="ko-KR" sz="1700" b="1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초기값의 작은 오차 만으로 형태 변화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궤적이 퍼지고 있는 카오스 현상의 시각적 형태</a:t>
            </a: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sz="16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= 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시간을 증가시키면 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8</a:t>
            </a:r>
            <a:r>
              <a:rPr lang="ko-KR" altLang="en-US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자 모양이 무너지는 형태가 될 것</a:t>
            </a:r>
            <a:r>
              <a:rPr lang="en-US" altLang="ko-KR" sz="16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23AFDB4-0B28-33D6-8A68-503C63A8E1A0}"/>
              </a:ext>
            </a:extLst>
          </p:cNvPr>
          <p:cNvCxnSpPr/>
          <p:nvPr/>
        </p:nvCxnSpPr>
        <p:spPr>
          <a:xfrm>
            <a:off x="7099330" y="646386"/>
            <a:ext cx="0" cy="585445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464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8BCFE-A246-6A74-CDA1-71FCFFE13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3A202336-098B-E0B1-6B2F-B24EE2950C19}"/>
              </a:ext>
            </a:extLst>
          </p:cNvPr>
          <p:cNvSpPr/>
          <p:nvPr/>
        </p:nvSpPr>
        <p:spPr>
          <a:xfrm>
            <a:off x="136813" y="135082"/>
            <a:ext cx="11918373" cy="6587836"/>
          </a:xfrm>
          <a:prstGeom prst="snip2Diag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부제목 8">
            <a:extLst>
              <a:ext uri="{FF2B5EF4-FFF2-40B4-BE49-F238E27FC236}">
                <a16:creationId xmlns:a16="http://schemas.microsoft.com/office/drawing/2014/main" id="{0F8FFFE3-9554-9972-8FFC-8F94AB409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031" y="356831"/>
            <a:ext cx="3192026" cy="1218440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4. </a:t>
            </a:r>
            <a:r>
              <a:rPr lang="ko-KR" altLang="en-US" sz="32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결론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93AAA6-A8AF-D37C-E862-BB8175767782}"/>
              </a:ext>
            </a:extLst>
          </p:cNvPr>
          <p:cNvSpPr/>
          <p:nvPr/>
        </p:nvSpPr>
        <p:spPr>
          <a:xfrm>
            <a:off x="1405054" y="1874081"/>
            <a:ext cx="9210907" cy="19777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부제목 8">
            <a:extLst>
              <a:ext uri="{FF2B5EF4-FFF2-40B4-BE49-F238E27FC236}">
                <a16:creationId xmlns:a16="http://schemas.microsoft.com/office/drawing/2014/main" id="{8EB01B3E-E00E-EE88-B1D8-B65DC2BE6853}"/>
              </a:ext>
            </a:extLst>
          </p:cNvPr>
          <p:cNvSpPr txBox="1">
            <a:spLocks/>
          </p:cNvSpPr>
          <p:nvPr/>
        </p:nvSpPr>
        <p:spPr>
          <a:xfrm>
            <a:off x="997921" y="1676308"/>
            <a:ext cx="10196156" cy="4409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RK4 </a:t>
            </a:r>
            <a:r>
              <a:rPr lang="ko-KR" altLang="en-US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방법을 이용해 </a:t>
            </a:r>
            <a:r>
              <a:rPr lang="en-US" altLang="ko-KR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Two-body problem</a:t>
            </a:r>
            <a:r>
              <a:rPr lang="ko-KR" altLang="en-US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의</a:t>
            </a:r>
            <a:r>
              <a:rPr lang="en-US" altLang="ko-KR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특수해와 카오스 확인</a:t>
            </a:r>
            <a:endParaRPr lang="en-US" altLang="ko-KR" b="1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-&gt;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특수해 데이터를 이용해 궤도를 그래프로 그리고 초기값 오차로 발생하는 카오스 현상 확인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프로젝트의 한계점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카오스적 조건에서 두 물체의 거리가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0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이 될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충돌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) =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분모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-&gt; 0,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가속도는 무한대</a:t>
            </a:r>
            <a:endParaRPr lang="en-US" altLang="ko-KR" sz="17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-&gt; 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충돌을 피할 수 있는 장치 필요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분모에 작은 상수를 넣어 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0</a:t>
            </a:r>
            <a:r>
              <a:rPr lang="ko-KR" altLang="en-US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이 되지 않게</a:t>
            </a:r>
            <a:r>
              <a:rPr lang="en-US" altLang="ko-KR" sz="1700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23748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1779</TotalTime>
  <Words>859</Words>
  <Application>Microsoft Office PowerPoint</Application>
  <PresentationFormat>와이드스크린</PresentationFormat>
  <Paragraphs>168</Paragraphs>
  <Slides>16</Slides>
  <Notes>6</Notes>
  <HiddenSlides>0</HiddenSlides>
  <MMClips>1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나눔스퀘어_ac Bold</vt:lpstr>
      <vt:lpstr>나눔스퀘어_ac ExtraBold</vt:lpstr>
      <vt:lpstr>맑은 고딕</vt:lpstr>
      <vt:lpstr>Arial</vt:lpstr>
      <vt:lpstr>Bell MT</vt:lpstr>
      <vt:lpstr>Cambria Math</vt:lpstr>
      <vt:lpstr>Symbol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Yedam Lee</dc:creator>
  <cp:lastModifiedBy>Yedam Lee</cp:lastModifiedBy>
  <cp:revision>20</cp:revision>
  <dcterms:created xsi:type="dcterms:W3CDTF">2025-10-30T17:31:40Z</dcterms:created>
  <dcterms:modified xsi:type="dcterms:W3CDTF">2025-11-21T06:19:00Z</dcterms:modified>
</cp:coreProperties>
</file>